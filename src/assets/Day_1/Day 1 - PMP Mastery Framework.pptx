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1pPr>
    <a:lvl2pPr marL="0" marR="0" indent="457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2pPr>
    <a:lvl3pPr marL="0" marR="0" indent="914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3pPr>
    <a:lvl4pPr marL="0" marR="0" indent="1371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4pPr>
    <a:lvl5pPr marL="0" marR="0" indent="18288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5pPr>
    <a:lvl6pPr marL="0" marR="0" indent="22860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6pPr>
    <a:lvl7pPr marL="0" marR="0" indent="27432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7pPr>
    <a:lvl8pPr marL="0" marR="0" indent="32004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8pPr>
    <a:lvl9pPr marL="0" marR="0" indent="365760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b="def" i="def"/>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b="def" i="def"/>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b="def" i="def"/>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b="def" i="def"/>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b="def" i="def"/>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b="def" i="def"/>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34" name="Shape 134"/>
          <p:cNvSpPr/>
          <p:nvPr>
            <p:ph type="sldImg"/>
          </p:nvPr>
        </p:nvSpPr>
        <p:spPr>
          <a:xfrm>
            <a:off x="1143000" y="685800"/>
            <a:ext cx="4572000" cy="3429000"/>
          </a:xfrm>
          <a:prstGeom prst="rect">
            <a:avLst/>
          </a:prstGeom>
        </p:spPr>
        <p:txBody>
          <a:bodyPr/>
          <a:lstStyle/>
          <a:p>
            <a:pPr/>
          </a:p>
        </p:txBody>
      </p:sp>
      <p:sp>
        <p:nvSpPr>
          <p:cNvPr id="135" name="Shape 13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marL="291041" indent="-291041">
              <a:buSzPct val="125000"/>
              <a:buChar char="+"/>
            </a:pPr>
            <a:r>
              <a:t>Good morning/afternoon, everyone, and a very warm welcome to Day 1 of our PMP® Exam Preparation Course. </a:t>
            </a:r>
          </a:p>
          <a:p>
            <a:pPr marL="291041" indent="-291041">
              <a:buSzPct val="125000"/>
              <a:buChar char="+"/>
            </a:pPr>
            <a:r>
              <a:t>My name is [Your Name], and I am [Your Credentials - PMP, years of experience]. </a:t>
            </a:r>
          </a:p>
          <a:p>
            <a:pPr marL="291041" indent="-291041">
              <a:buSzPct val="125000"/>
              <a:buChar char="+"/>
            </a:pPr>
            <a:r>
              <a:t>Over the next 13 weeks, we will embark on a structured journey to equip you with the knowledge and strategies you need to successfully pass the Project Management Professional (PMP)® exam. </a:t>
            </a:r>
          </a:p>
          <a:p>
            <a:pPr marL="291041" indent="-291041">
              <a:buSzPct val="125000"/>
              <a:buChar char="+"/>
            </a:pPr>
            <a:r>
              <a:t>I am genuinely excited to guide you through this process. This course is designed not just to help you pass the exam, but to truly understand project management at a professional level."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Shape 150"/>
          <p:cNvSpPr/>
          <p:nvPr>
            <p:ph type="sldImg"/>
          </p:nvPr>
        </p:nvSpPr>
        <p:spPr>
          <a:prstGeom prst="rect">
            <a:avLst/>
          </a:prstGeom>
        </p:spPr>
        <p:txBody>
          <a:bodyPr/>
          <a:lstStyle/>
          <a:p>
            <a:pPr/>
          </a:p>
        </p:txBody>
      </p:sp>
      <p:sp>
        <p:nvSpPr>
          <p:cNvPr id="151" name="Shape 151"/>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Welcome everyone to our PMP® Exam preparation journey. </a:t>
            </a:r>
          </a:p>
          <a:p>
            <a:pPr marL="291041" indent="-291041">
              <a:buSzPct val="125000"/>
              <a:buChar char="+"/>
              <a:defRPr>
                <a:solidFill>
                  <a:srgbClr val="5E5E5E"/>
                </a:solidFill>
                <a:latin typeface="Poppins Light"/>
                <a:ea typeface="Poppins Light"/>
                <a:cs typeface="Poppins Light"/>
                <a:sym typeface="Poppins Light"/>
              </a:defRPr>
            </a:pPr>
            <a:r>
              <a:t>As your instructor, my role is to guide you through the material and help you build the confidence to succeed. </a:t>
            </a:r>
          </a:p>
          <a:p>
            <a:pPr marL="291041" indent="-291041">
              <a:buSzPct val="125000"/>
              <a:buChar char="+"/>
              <a:defRPr>
                <a:solidFill>
                  <a:srgbClr val="5E5E5E"/>
                </a:solidFill>
                <a:latin typeface="Poppins Light"/>
                <a:ea typeface="Poppins Light"/>
                <a:cs typeface="Poppins Light"/>
                <a:sym typeface="Poppins Light"/>
              </a:defRPr>
            </a:pPr>
            <a:r>
              <a:t>Before we dive into the content, let's take a brief moment to welcome everyone and get a sense of the diverse experience we have in this group. </a:t>
            </a:r>
          </a:p>
          <a:p>
            <a:pPr marL="291041" indent="-291041">
              <a:buSzPct val="125000"/>
              <a:buChar char="+"/>
              <a:defRPr>
                <a:solidFill>
                  <a:srgbClr val="5E5E5E"/>
                </a:solidFill>
                <a:latin typeface="Poppins Light"/>
                <a:ea typeface="Poppins Light"/>
                <a:cs typeface="Poppins Light"/>
                <a:sym typeface="Poppins Light"/>
              </a:defRPr>
            </a:pPr>
            <a:r>
              <a:t>I'd like each of you to briefly share your name, your current role, your project management background, and what's motivating you to pursue your PMP certification. </a:t>
            </a:r>
          </a:p>
          <a:p>
            <a:pPr marL="291041" indent="-291041">
              <a:buSzPct val="125000"/>
              <a:buChar char="+"/>
              <a:defRPr>
                <a:solidFill>
                  <a:srgbClr val="5E5E5E"/>
                </a:solidFill>
                <a:latin typeface="Poppins Light"/>
                <a:ea typeface="Poppins Light"/>
                <a:cs typeface="Poppins Light"/>
                <a:sym typeface="Poppins Light"/>
              </a:defRPr>
            </a:pPr>
            <a:r>
              <a:t>This helps us understand each other and build our learning community. </a:t>
            </a:r>
          </a:p>
          <a:p>
            <a:pPr marL="291041" indent="-291041">
              <a:buSzPct val="125000"/>
              <a:buChar char="+"/>
              <a:defRPr>
                <a:solidFill>
                  <a:srgbClr val="5E5E5E"/>
                </a:solidFill>
                <a:latin typeface="Poppins Light"/>
                <a:ea typeface="Poppins Light"/>
                <a:cs typeface="Poppins Light"/>
                <a:sym typeface="Poppins Light"/>
              </a:defRPr>
            </a:pPr>
            <a:r>
              <a:t>Who would like to start?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hape 158"/>
          <p:cNvSpPr/>
          <p:nvPr>
            <p:ph type="sldImg"/>
          </p:nvPr>
        </p:nvSpPr>
        <p:spPr>
          <a:prstGeom prst="rect">
            <a:avLst/>
          </a:prstGeom>
        </p:spPr>
        <p:txBody>
          <a:bodyPr/>
          <a:lstStyle/>
          <a:p>
            <a:pPr/>
          </a:p>
        </p:txBody>
      </p:sp>
      <p:sp>
        <p:nvSpPr>
          <p:cNvPr id="159" name="Shape 159"/>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The core purpose of this course is clear and direct: to equip you with everything you need to confidently pass the PMP exam. </a:t>
            </a:r>
          </a:p>
          <a:p>
            <a:pPr marL="291041" indent="-291041">
              <a:buSzPct val="125000"/>
              <a:buChar char="+"/>
              <a:defRPr>
                <a:solidFill>
                  <a:srgbClr val="5E5E5E"/>
                </a:solidFill>
                <a:latin typeface="Poppins Light"/>
                <a:ea typeface="Poppins Light"/>
                <a:cs typeface="Poppins Light"/>
                <a:sym typeface="Poppins Light"/>
              </a:defRPr>
            </a:pPr>
            <a:r>
              <a:t>A crucial point to understand from the outset is that the PMP exam is based on the PMP Exam Content Outline, or ECO. </a:t>
            </a:r>
          </a:p>
          <a:p>
            <a:pPr marL="291041" indent="-291041">
              <a:buSzPct val="125000"/>
              <a:buChar char="+"/>
              <a:defRPr>
                <a:solidFill>
                  <a:srgbClr val="5E5E5E"/>
                </a:solidFill>
                <a:latin typeface="Poppins Light"/>
                <a:ea typeface="Poppins Light"/>
                <a:cs typeface="Poppins Light"/>
                <a:sym typeface="Poppins Light"/>
              </a:defRPr>
            </a:pPr>
            <a:r>
              <a:t>While resources like the PMBOK Guide are essential references, the ECO is the actual blueprint for the exam. </a:t>
            </a:r>
          </a:p>
          <a:p>
            <a:pPr marL="291041" indent="-291041">
              <a:buSzPct val="125000"/>
              <a:buChar char="+"/>
              <a:defRPr>
                <a:solidFill>
                  <a:srgbClr val="5E5E5E"/>
                </a:solidFill>
                <a:latin typeface="Poppins Light"/>
                <a:ea typeface="Poppins Light"/>
                <a:cs typeface="Poppins Light"/>
                <a:sym typeface="Poppins Light"/>
              </a:defRPr>
            </a:pPr>
            <a:r>
              <a:t>This course is structured to guide you systematically through the ECO, providing a detailed review of each domain, task, and enabler. </a:t>
            </a:r>
          </a:p>
          <a:p>
            <a:pPr marL="291041" indent="-291041">
              <a:buSzPct val="125000"/>
              <a:buChar char="+"/>
              <a:defRPr>
                <a:solidFill>
                  <a:srgbClr val="5E5E5E"/>
                </a:solidFill>
                <a:latin typeface="Poppins Light"/>
                <a:ea typeface="Poppins Light"/>
                <a:cs typeface="Poppins Light"/>
                <a:sym typeface="Poppins Light"/>
              </a:defRPr>
            </a:pPr>
            <a:r>
              <a:t>We're not just going to read through material - we're going to deeply understand it, apply it, and practice it until you're completely ready.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marL="291041" indent="-291041">
              <a:buSzPct val="125000"/>
              <a:buChar char="+"/>
              <a:defRPr>
                <a:solidFill>
                  <a:srgbClr val="5E5E5E"/>
                </a:solidFill>
                <a:latin typeface="Helvetica Neue Light"/>
                <a:ea typeface="Helvetica Neue Light"/>
                <a:cs typeface="Helvetica Neue Light"/>
                <a:sym typeface="Helvetica Neue Light"/>
              </a:defRPr>
            </a:pPr>
            <a:r>
              <a:t>By actively engaging with this course, you will develop several key abilities crucial for passing the PMP exam. </a:t>
            </a:r>
          </a:p>
          <a:p>
            <a:pPr marL="291041" indent="-291041">
              <a:buSzPct val="125000"/>
              <a:buChar char="+"/>
              <a:defRPr>
                <a:solidFill>
                  <a:srgbClr val="5E5E5E"/>
                </a:solidFill>
                <a:latin typeface="Helvetica Neue Light"/>
                <a:ea typeface="Helvetica Neue Light"/>
                <a:cs typeface="Helvetica Neue Light"/>
                <a:sym typeface="Helvetica Neue Light"/>
              </a:defRPr>
            </a:pPr>
            <a:r>
              <a:t>You will gain a deep understanding of the PMP Exam Structure - the three domains and their weightings. </a:t>
            </a:r>
          </a:p>
          <a:p>
            <a:pPr marL="291041" indent="-291041">
              <a:buSzPct val="125000"/>
              <a:buChar char="+"/>
              <a:defRPr>
                <a:solidFill>
                  <a:srgbClr val="5E5E5E"/>
                </a:solidFill>
                <a:latin typeface="Helvetica Neue Light"/>
                <a:ea typeface="Helvetica Neue Light"/>
                <a:cs typeface="Helvetica Neue Light"/>
                <a:sym typeface="Helvetica Neue Light"/>
              </a:defRPr>
            </a:pPr>
            <a:r>
              <a:t>You'll master the core concepts that appear throughout the exam. </a:t>
            </a:r>
          </a:p>
          <a:p>
            <a:pPr marL="291041" indent="-291041">
              <a:buSzPct val="125000"/>
              <a:buChar char="+"/>
              <a:defRPr>
                <a:solidFill>
                  <a:srgbClr val="5E5E5E"/>
                </a:solidFill>
                <a:latin typeface="Helvetica Neue Light"/>
                <a:ea typeface="Helvetica Neue Light"/>
                <a:cs typeface="Helvetica Neue Light"/>
                <a:sym typeface="Helvetica Neue Light"/>
              </a:defRPr>
            </a:pPr>
            <a:r>
              <a:t>You'll learn to identify key Tasks and Enablers from the ECO. </a:t>
            </a:r>
          </a:p>
          <a:p>
            <a:pPr marL="291041" indent="-291041">
              <a:buSzPct val="125000"/>
              <a:buChar char="+"/>
              <a:defRPr>
                <a:solidFill>
                  <a:srgbClr val="5E5E5E"/>
                </a:solidFill>
                <a:latin typeface="Helvetica Neue Light"/>
                <a:ea typeface="Helvetica Neue Light"/>
                <a:cs typeface="Helvetica Neue Light"/>
                <a:sym typeface="Helvetica Neue Light"/>
              </a:defRPr>
            </a:pPr>
            <a:r>
              <a:t>Equally important is cultivating the PMP Mindset – the critical thinking approach needed for exam scenarios. </a:t>
            </a:r>
          </a:p>
          <a:p>
            <a:pPr marL="291041" indent="-291041">
              <a:buSzPct val="125000"/>
              <a:buChar char="+"/>
              <a:defRPr>
                <a:solidFill>
                  <a:srgbClr val="5E5E5E"/>
                </a:solidFill>
                <a:latin typeface="Helvetica Neue Light"/>
                <a:ea typeface="Helvetica Neue Light"/>
                <a:cs typeface="Helvetica Neue Light"/>
                <a:sym typeface="Helvetica Neue Light"/>
              </a:defRPr>
            </a:pPr>
            <a:r>
              <a:t>We will also cover strategies for analyzing exam questions, developing your personalized study strategy, managing your time during the exam, and most importantly, boosting your confidence so you walk into that testing center ready to succeed.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174"/>
          <p:cNvSpPr/>
          <p:nvPr>
            <p:ph type="sldImg"/>
          </p:nvPr>
        </p:nvSpPr>
        <p:spPr>
          <a:prstGeom prst="rect">
            <a:avLst/>
          </a:prstGeom>
        </p:spPr>
        <p:txBody>
          <a:bodyPr/>
          <a:lstStyle/>
          <a:p>
            <a:pPr/>
          </a:p>
        </p:txBody>
      </p:sp>
      <p:sp>
        <p:nvSpPr>
          <p:cNvPr id="175" name="Shape 175"/>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Before starting this course, it's important to ensure you meet the necessary requirements. </a:t>
            </a:r>
          </a:p>
          <a:p>
            <a:pPr marL="291041" indent="-291041">
              <a:buSzPct val="125000"/>
              <a:buChar char="+"/>
              <a:defRPr>
                <a:solidFill>
                  <a:srgbClr val="5E5E5E"/>
                </a:solidFill>
                <a:latin typeface="Poppins Light"/>
                <a:ea typeface="Poppins Light"/>
                <a:cs typeface="Poppins Light"/>
                <a:sym typeface="Poppins Light"/>
              </a:defRPr>
            </a:pPr>
            <a:r>
              <a:t>Firstly, you should meet PMI's eligibility requirements for the PMP exam. This includes specific education and experience criteria - please verify these on PMI.org if you haven't already. </a:t>
            </a:r>
          </a:p>
          <a:p>
            <a:pPr marL="291041" indent="-291041">
              <a:buSzPct val="125000"/>
              <a:buChar char="+"/>
              <a:defRPr>
                <a:solidFill>
                  <a:srgbClr val="5E5E5E"/>
                </a:solidFill>
                <a:latin typeface="Poppins Light"/>
                <a:ea typeface="Poppins Light"/>
                <a:cs typeface="Poppins Light"/>
                <a:sym typeface="Poppins Light"/>
              </a:defRPr>
            </a:pPr>
            <a:r>
              <a:t>Secondly, you should have basic project management knowledge. We'll build on fundamentals, but you should be familiar with basic PM terminology. </a:t>
            </a:r>
          </a:p>
          <a:p>
            <a:pPr marL="291041" indent="-291041">
              <a:buSzPct val="125000"/>
              <a:buChar char="+"/>
              <a:defRPr>
                <a:solidFill>
                  <a:srgbClr val="5E5E5E"/>
                </a:solidFill>
                <a:latin typeface="Poppins Light"/>
                <a:ea typeface="Poppins Light"/>
                <a:cs typeface="Poppins Light"/>
                <a:sym typeface="Poppins Light"/>
              </a:defRPr>
            </a:pPr>
            <a:r>
              <a:t>Crucially, success requires commitment to study. Plan for 10 to 15 hours per week of dedicated study time. </a:t>
            </a:r>
          </a:p>
          <a:p>
            <a:pPr marL="291041" indent="-291041">
              <a:buSzPct val="125000"/>
              <a:buChar char="+"/>
              <a:defRPr>
                <a:solidFill>
                  <a:srgbClr val="5E5E5E"/>
                </a:solidFill>
                <a:latin typeface="Poppins Light"/>
                <a:ea typeface="Poppins Light"/>
                <a:cs typeface="Poppins Light"/>
                <a:sym typeface="Poppins Light"/>
              </a:defRPr>
            </a:pPr>
            <a:r>
              <a:t>Finally, having a strong desire to pass will be a key driver for your motivation throughout this journey. What's your 'why'? Keep that front and center.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hape 182"/>
          <p:cNvSpPr/>
          <p:nvPr>
            <p:ph type="sldImg"/>
          </p:nvPr>
        </p:nvSpPr>
        <p:spPr>
          <a:prstGeom prst="rect">
            <a:avLst/>
          </a:prstGeom>
        </p:spPr>
        <p:txBody>
          <a:bodyPr/>
          <a:lstStyle/>
          <a:p>
            <a:pPr/>
          </a:p>
        </p:txBody>
      </p:sp>
      <p:sp>
        <p:nvSpPr>
          <p:cNvPr id="183" name="Shape 183"/>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The PMP exam is built around three domains from the Examination Content Outline. Let's break each one down. </a:t>
            </a:r>
          </a:p>
          <a:p>
            <a:pPr marL="291041" indent="-291041">
              <a:buSzPct val="125000"/>
              <a:buChar char="+"/>
              <a:defRPr>
                <a:solidFill>
                  <a:srgbClr val="5E5E5E"/>
                </a:solidFill>
                <a:latin typeface="Poppins Light"/>
                <a:ea typeface="Poppins Light"/>
                <a:cs typeface="Poppins Light"/>
                <a:sym typeface="Poppins Light"/>
              </a:defRPr>
            </a:pPr>
            <a:r>
              <a:t>The People domain represents 42% of the exam - approximately 76 questions. </a:t>
            </a:r>
          </a:p>
          <a:p>
            <a:pPr marL="291041" indent="-291041">
              <a:buSzPct val="125000"/>
              <a:buChar char="+"/>
              <a:defRPr>
                <a:solidFill>
                  <a:srgbClr val="5E5E5E"/>
                </a:solidFill>
                <a:latin typeface="Poppins Light"/>
                <a:ea typeface="Poppins Light"/>
                <a:cs typeface="Poppins Light"/>
                <a:sym typeface="Poppins Light"/>
              </a:defRPr>
            </a:pPr>
            <a:r>
              <a:t>This covers managing and leading teams, supporting performance, empowering stakeholders, and managing conflict. </a:t>
            </a:r>
          </a:p>
          <a:p>
            <a:pPr marL="291041" indent="-291041">
              <a:buSzPct val="125000"/>
              <a:buChar char="+"/>
              <a:defRPr>
                <a:solidFill>
                  <a:srgbClr val="5E5E5E"/>
                </a:solidFill>
                <a:latin typeface="Poppins Light"/>
                <a:ea typeface="Poppins Light"/>
                <a:cs typeface="Poppins Light"/>
                <a:sym typeface="Poppins Light"/>
              </a:defRPr>
            </a:pPr>
            <a:r>
              <a:t>Think of this as the 'soft skills' of project management, though they're anything but soft - they're critical. </a:t>
            </a:r>
          </a:p>
          <a:p>
            <a:pPr marL="291041" indent="-291041">
              <a:buSzPct val="125000"/>
              <a:buChar char="+"/>
              <a:defRPr>
                <a:solidFill>
                  <a:srgbClr val="5E5E5E"/>
                </a:solidFill>
                <a:latin typeface="Poppins Light"/>
                <a:ea typeface="Poppins Light"/>
                <a:cs typeface="Poppins Light"/>
                <a:sym typeface="Poppins Light"/>
              </a:defRPr>
            </a:pPr>
            <a:r>
              <a:t>The Process domain is the largest at 50% - about 90 questions. </a:t>
            </a:r>
          </a:p>
          <a:p>
            <a:pPr marL="291041" indent="-291041">
              <a:buSzPct val="125000"/>
              <a:buChar char="+"/>
              <a:defRPr>
                <a:solidFill>
                  <a:srgbClr val="5E5E5E"/>
                </a:solidFill>
                <a:latin typeface="Poppins Light"/>
                <a:ea typeface="Poppins Light"/>
                <a:cs typeface="Poppins Light"/>
                <a:sym typeface="Poppins Light"/>
              </a:defRPr>
            </a:pPr>
            <a:r>
              <a:t>This covers planning, executing, closing, managing changes, optimizing performance, and integrating activities. </a:t>
            </a:r>
          </a:p>
          <a:p>
            <a:pPr marL="291041" indent="-291041">
              <a:buSzPct val="125000"/>
              <a:buChar char="+"/>
              <a:defRPr>
                <a:solidFill>
                  <a:srgbClr val="5E5E5E"/>
                </a:solidFill>
                <a:latin typeface="Poppins Light"/>
                <a:ea typeface="Poppins Light"/>
                <a:cs typeface="Poppins Light"/>
                <a:sym typeface="Poppins Light"/>
              </a:defRPr>
            </a:pPr>
            <a:r>
              <a:t>This is your traditional project management processes. </a:t>
            </a:r>
          </a:p>
          <a:p>
            <a:pPr marL="291041" indent="-291041">
              <a:buSzPct val="125000"/>
              <a:buChar char="+"/>
              <a:defRPr>
                <a:solidFill>
                  <a:srgbClr val="5E5E5E"/>
                </a:solidFill>
                <a:latin typeface="Poppins Light"/>
                <a:ea typeface="Poppins Light"/>
                <a:cs typeface="Poppins Light"/>
                <a:sym typeface="Poppins Light"/>
              </a:defRPr>
            </a:pPr>
            <a:r>
              <a:t>The Business Environment domain is 8% - about 14 questions. </a:t>
            </a:r>
          </a:p>
          <a:p>
            <a:pPr marL="291041" indent="-291041">
              <a:buSzPct val="125000"/>
              <a:buChar char="+"/>
              <a:defRPr>
                <a:solidFill>
                  <a:srgbClr val="5E5E5E"/>
                </a:solidFill>
                <a:latin typeface="Poppins Light"/>
                <a:ea typeface="Poppins Light"/>
                <a:cs typeface="Poppins Light"/>
                <a:sym typeface="Poppins Light"/>
              </a:defRPr>
            </a:pPr>
            <a:r>
              <a:t>This covers compliance, benefits realization, organizational change, and knowledge transfer. </a:t>
            </a:r>
          </a:p>
          <a:p>
            <a:pPr marL="291041" indent="-291041">
              <a:buSzPct val="125000"/>
              <a:buChar char="+"/>
              <a:defRPr>
                <a:solidFill>
                  <a:srgbClr val="5E5E5E"/>
                </a:solidFill>
                <a:latin typeface="Poppins Light"/>
                <a:ea typeface="Poppins Light"/>
                <a:cs typeface="Poppins Light"/>
                <a:sym typeface="Poppins Light"/>
              </a:defRPr>
            </a:pPr>
            <a:r>
              <a:t>This is about understanding the bigger picture - how projects fit into organizational strategy. </a:t>
            </a:r>
          </a:p>
          <a:p>
            <a:pPr marL="291041" indent="-291041">
              <a:buSzPct val="125000"/>
              <a:buChar char="+"/>
              <a:defRPr>
                <a:solidFill>
                  <a:srgbClr val="5E5E5E"/>
                </a:solidFill>
                <a:latin typeface="Poppins Light"/>
                <a:ea typeface="Poppins Light"/>
                <a:cs typeface="Poppins Light"/>
                <a:sym typeface="Poppins Light"/>
              </a:defRPr>
            </a:pPr>
            <a:r>
              <a:t>Notice that Process and People together make up 92% of the exam. That's where we'll spend most of our time.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Let's talk about the exam format and logistics in detail. </a:t>
            </a:r>
          </a:p>
          <a:p>
            <a:pPr marL="291041" indent="-291041">
              <a:buSzPct val="125000"/>
              <a:buChar char="+"/>
              <a:defRPr>
                <a:solidFill>
                  <a:srgbClr val="5E5E5E"/>
                </a:solidFill>
                <a:latin typeface="Poppins Light"/>
                <a:ea typeface="Poppins Light"/>
                <a:cs typeface="Poppins Light"/>
                <a:sym typeface="Poppins Light"/>
              </a:defRPr>
            </a:pPr>
            <a:r>
              <a:t>You'll face 180 questions total, covering all three domains in a mixed format. </a:t>
            </a:r>
          </a:p>
          <a:p>
            <a:pPr marL="291041" indent="-291041">
              <a:buSzPct val="125000"/>
              <a:buChar char="+"/>
              <a:defRPr>
                <a:solidFill>
                  <a:srgbClr val="5E5E5E"/>
                </a:solidFill>
                <a:latin typeface="Poppins Light"/>
                <a:ea typeface="Poppins Light"/>
                <a:cs typeface="Poppins Light"/>
                <a:sym typeface="Poppins Light"/>
              </a:defRPr>
            </a:pPr>
            <a:r>
              <a:t>You'll see various question types, which we'll cover in a moment. </a:t>
            </a:r>
          </a:p>
          <a:p>
            <a:pPr marL="291041" indent="-291041">
              <a:buSzPct val="125000"/>
              <a:buChar char="+"/>
              <a:defRPr>
                <a:solidFill>
                  <a:srgbClr val="5E5E5E"/>
                </a:solidFill>
                <a:latin typeface="Poppins Light"/>
                <a:ea typeface="Poppins Light"/>
                <a:cs typeface="Poppins Light"/>
                <a:sym typeface="Poppins Light"/>
              </a:defRPr>
            </a:pPr>
            <a:r>
              <a:t>Here's something important: some questions are pretest questions that don't count toward your score. PMI uses them to test future exam questions. The challenge? You won't know which ones they are, so treat every question as if it counts. </a:t>
            </a:r>
          </a:p>
          <a:p>
            <a:pPr marL="291041" indent="-291041">
              <a:buSzPct val="125000"/>
              <a:buChar char="+"/>
              <a:defRPr>
                <a:solidFill>
                  <a:srgbClr val="5E5E5E"/>
                </a:solidFill>
                <a:latin typeface="Poppins Light"/>
                <a:ea typeface="Poppins Light"/>
                <a:cs typeface="Poppins Light"/>
                <a:sym typeface="Poppins Light"/>
              </a:defRPr>
            </a:pPr>
            <a:r>
              <a:t>You have 230 minutes - that's 3 hours and 50 minutes. Do the math: approximately 1.3 minutes per question. That sounds like a lot, but time flies when you're reading scenarios and analyzing options. </a:t>
            </a:r>
          </a:p>
          <a:p>
            <a:pPr marL="291041" indent="-291041">
              <a:buSzPct val="125000"/>
              <a:buChar char="+"/>
              <a:defRPr>
                <a:solidFill>
                  <a:srgbClr val="5E5E5E"/>
                </a:solidFill>
                <a:latin typeface="Poppins Light"/>
                <a:ea typeface="Poppins Light"/>
                <a:cs typeface="Poppins Light"/>
                <a:sym typeface="Poppins Light"/>
              </a:defRPr>
            </a:pPr>
            <a:r>
              <a:t>You get two optional 10-minute breaks - one after question 60 and another after question 120. I strongly recommend taking both breaks to refresh your mind. </a:t>
            </a:r>
          </a:p>
          <a:p>
            <a:pPr marL="291041" indent="-291041">
              <a:buSzPct val="125000"/>
              <a:buChar char="+"/>
              <a:defRPr>
                <a:solidFill>
                  <a:srgbClr val="5E5E5E"/>
                </a:solidFill>
                <a:latin typeface="Poppins Light"/>
                <a:ea typeface="Poppins Light"/>
                <a:cs typeface="Poppins Light"/>
                <a:sym typeface="Poppins Light"/>
              </a:defRPr>
            </a:pPr>
            <a:r>
              <a:t>The exam is computer-based, no materials are allowed, but you'll have an on-screen calculator. </a:t>
            </a:r>
          </a:p>
          <a:p>
            <a:pPr marL="291041" indent="-291041">
              <a:buSzPct val="125000"/>
              <a:buChar char="+"/>
              <a:defRPr>
                <a:solidFill>
                  <a:srgbClr val="5E5E5E"/>
                </a:solidFill>
                <a:latin typeface="Poppins Light"/>
                <a:ea typeface="Poppins Light"/>
                <a:cs typeface="Poppins Light"/>
                <a:sym typeface="Poppins Light"/>
              </a:defRPr>
            </a:pPr>
            <a:r>
              <a:t>The tutorial at the beginning doesn't count against your time, so use it to get comfortable with the interface.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marL="291041" indent="-291041">
              <a:buSzPct val="125000"/>
              <a:buChar char="+"/>
            </a:pPr>
            <a:r>
              <a:t>Let's dive deep into the five question types you'll encounter. </a:t>
            </a:r>
          </a:p>
          <a:p>
            <a:pPr marL="291041" indent="-291041">
              <a:buSzPct val="125000"/>
              <a:buChar char="+"/>
            </a:pPr>
            <a:r>
              <a:t>Multiple choice is the most common format. You'll see a scenario - often a paragraph or two - followed by a question and four answer options. Your job is to select the ONE best answer. These test your ability to apply the PMP mindset to real situations. Strategy: eliminate obviously wrong answers first, then choose the best remaining option. </a:t>
            </a:r>
          </a:p>
          <a:p>
            <a:pPr marL="291041" indent="-291041">
              <a:buSzPct val="125000"/>
              <a:buChar char="+"/>
            </a:pPr>
            <a:r>
              <a:t>Multiple response questions ask you to select ALL correct answers. The question will tell you how many - usually 2 or 3. Treat each option as a true/false decision. </a:t>
            </a:r>
          </a:p>
          <a:p>
            <a:pPr marL="291041" indent="-291041">
              <a:buSzPct val="125000"/>
              <a:buChar char="+"/>
            </a:pPr>
            <a:r>
              <a:t>Matching questions have you connect items from two lists - like matching processes to knowledge areas, or tools to techniques. Start with the ones you're absolutely certain about, then work through the rest. </a:t>
            </a:r>
          </a:p>
          <a:p>
            <a:pPr marL="291041" indent="-291041">
              <a:buSzPct val="125000"/>
              <a:buChar char="+"/>
            </a:pPr>
            <a:r>
              <a:t>Hotspot questions show you a diagram - maybe a process flow or organizational chart - and you click on the correct area. Make sure you understand the visual before clicking. Fill-in-the-blank questions are less common. You'll type specific terms or formulas. Spelling must be exact, so be careful. We'll practice all five types throughout this course."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p>
            <a:pPr marL="291041" indent="-291041">
              <a:buSzPct val="125000"/>
              <a:buChar char="+"/>
              <a:defRPr>
                <a:solidFill>
                  <a:srgbClr val="5E5E5E"/>
                </a:solidFill>
                <a:latin typeface="Poppins Light"/>
                <a:ea typeface="Poppins Light"/>
                <a:cs typeface="Poppins Light"/>
                <a:sym typeface="Poppins Light"/>
              </a:defRPr>
            </a:pPr>
            <a:r>
              <a:t>Let's talk about your essential study resources. </a:t>
            </a:r>
          </a:p>
          <a:p>
            <a:pPr marL="291041" indent="-291041">
              <a:buSzPct val="125000"/>
              <a:buChar char="+"/>
              <a:defRPr>
                <a:solidFill>
                  <a:srgbClr val="5E5E5E"/>
                </a:solidFill>
                <a:latin typeface="Poppins Light"/>
                <a:ea typeface="Poppins Light"/>
                <a:cs typeface="Poppins Light"/>
                <a:sym typeface="Poppins Light"/>
              </a:defRPr>
            </a:pPr>
            <a:r>
              <a:t>First and most important is the ECO - the Exam Content Outline. This is the official blueprint from PMI that defines exactly what domains, tasks, and enablers are tested. Download this free from PMI.org and structure your entire study plan around it. This is your north star. </a:t>
            </a:r>
          </a:p>
          <a:p>
            <a:pPr marL="291041" indent="-291041">
              <a:buSzPct val="125000"/>
              <a:buChar char="+"/>
              <a:defRPr>
                <a:solidFill>
                  <a:srgbClr val="5E5E5E"/>
                </a:solidFill>
                <a:latin typeface="Poppins Light"/>
                <a:ea typeface="Poppins Light"/>
                <a:cs typeface="Poppins Light"/>
                <a:sym typeface="Poppins Light"/>
              </a:defRPr>
            </a:pPr>
            <a:r>
              <a:t>Second is the PMBOK Guide, 7th edition. This is the Project Management Body of Knowledge - the detailed methodology and principles. Use this as your reference for understanding concepts in depth. You can purchase it or access it through PMI membership. </a:t>
            </a:r>
          </a:p>
          <a:p>
            <a:pPr marL="291041" indent="-291041">
              <a:buSzPct val="125000"/>
              <a:buChar char="+"/>
              <a:defRPr>
                <a:solidFill>
                  <a:srgbClr val="5E5E5E"/>
                </a:solidFill>
                <a:latin typeface="Poppins Light"/>
                <a:ea typeface="Poppins Light"/>
                <a:cs typeface="Poppins Light"/>
                <a:sym typeface="Poppins Light"/>
              </a:defRPr>
            </a:pPr>
            <a:r>
              <a:t>Third is the Agile Practice Guide. The modern PMP exam includes significant agile and hybrid content, so you need to understand iterative and adaptive methods. This is often bundled with the PMBOK Guide. </a:t>
            </a:r>
          </a:p>
          <a:p>
            <a:pPr marL="291041" indent="-291041">
              <a:buSzPct val="125000"/>
              <a:buChar char="+"/>
              <a:defRPr>
                <a:solidFill>
                  <a:srgbClr val="5E5E5E"/>
                </a:solidFill>
                <a:latin typeface="Poppins Light"/>
                <a:ea typeface="Poppins Light"/>
                <a:cs typeface="Poppins Light"/>
                <a:sym typeface="Poppins Light"/>
              </a:defRPr>
            </a:pPr>
            <a:r>
              <a:t>In addition to these core resources, this course provides over 1000 practice questions, three full-length simulated exams, downloadable templates and checklists, and access to our private online forum for support and community. </a:t>
            </a:r>
          </a:p>
          <a:p>
            <a:pPr marL="291041" indent="-291041">
              <a:buSzPct val="125000"/>
              <a:buChar char="+"/>
              <a:defRPr>
                <a:solidFill>
                  <a:srgbClr val="5E5E5E"/>
                </a:solidFill>
                <a:latin typeface="Poppins Light"/>
                <a:ea typeface="Poppins Light"/>
                <a:cs typeface="Poppins Light"/>
                <a:sym typeface="Poppins Light"/>
              </a:defRPr>
            </a:pPr>
            <a:r>
              <a:t>Together, these resources give you everything you need to succeed.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Title Text"/>
          <p:cNvSpPr txBox="1"/>
          <p:nvPr>
            <p:ph type="title"/>
          </p:nvPr>
        </p:nvSpPr>
        <p:spPr>
          <a:xfrm>
            <a:off x="1778000" y="2298700"/>
            <a:ext cx="20828000" cy="4648200"/>
          </a:xfrm>
          <a:prstGeom prst="rect">
            <a:avLst/>
          </a:prstGeom>
        </p:spPr>
        <p:txBody>
          <a:bodyPr anchor="b"/>
          <a:lstStyle/>
          <a:p>
            <a:pPr/>
            <a:r>
              <a:t>Title Text</a:t>
            </a:r>
          </a:p>
        </p:txBody>
      </p:sp>
      <p:sp>
        <p:nvSpPr>
          <p:cNvPr id="12" name="Body Level One…"/>
          <p:cNvSpPr txBox="1"/>
          <p:nvPr>
            <p:ph type="body" sz="quarter" idx="1"/>
          </p:nvPr>
        </p:nvSpPr>
        <p:spPr>
          <a:xfrm>
            <a:off x="1778000" y="7073900"/>
            <a:ext cx="20828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Horizontal">
    <p:spTree>
      <p:nvGrpSpPr>
        <p:cNvPr id="1" name=""/>
        <p:cNvGrpSpPr/>
        <p:nvPr/>
      </p:nvGrpSpPr>
      <p:grpSpPr>
        <a:xfrm>
          <a:off x="0" y="0"/>
          <a:ext cx="0" cy="0"/>
          <a:chOff x="0" y="0"/>
          <a:chExt cx="0" cy="0"/>
        </a:xfrm>
      </p:grpSpPr>
      <p:sp>
        <p:nvSpPr>
          <p:cNvPr id="20" name="View of beach and sea from a grassy sand dune"/>
          <p:cNvSpPr/>
          <p:nvPr>
            <p:ph type="pic" idx="21"/>
          </p:nvPr>
        </p:nvSpPr>
        <p:spPr>
          <a:xfrm>
            <a:off x="3125968" y="-393700"/>
            <a:ext cx="18135601" cy="12090400"/>
          </a:xfrm>
          <a:prstGeom prst="rect">
            <a:avLst/>
          </a:prstGeom>
        </p:spPr>
        <p:txBody>
          <a:bodyPr lIns="91439" tIns="45719" rIns="91439" bIns="45719" anchor="t">
            <a:noAutofit/>
          </a:bodyPr>
          <a:lstStyle/>
          <a:p>
            <a:pPr/>
          </a:p>
        </p:txBody>
      </p:sp>
      <p:sp>
        <p:nvSpPr>
          <p:cNvPr id="21" name="Title Text"/>
          <p:cNvSpPr txBox="1"/>
          <p:nvPr>
            <p:ph type="title"/>
          </p:nvPr>
        </p:nvSpPr>
        <p:spPr>
          <a:xfrm>
            <a:off x="635000" y="9512300"/>
            <a:ext cx="23114000" cy="2006600"/>
          </a:xfrm>
          <a:prstGeom prst="rect">
            <a:avLst/>
          </a:prstGeom>
        </p:spPr>
        <p:txBody>
          <a:bodyPr anchor="b"/>
          <a:lstStyle/>
          <a:p>
            <a:pPr/>
            <a:r>
              <a:t>Title Text</a:t>
            </a:r>
          </a:p>
        </p:txBody>
      </p:sp>
      <p:sp>
        <p:nvSpPr>
          <p:cNvPr id="22" name="Body Level One…"/>
          <p:cNvSpPr txBox="1"/>
          <p:nvPr>
            <p:ph type="body" sz="quarter" idx="1"/>
          </p:nvPr>
        </p:nvSpPr>
        <p:spPr>
          <a:xfrm>
            <a:off x="635000" y="11442700"/>
            <a:ext cx="23114000" cy="15875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Centre">
    <p:spTree>
      <p:nvGrpSpPr>
        <p:cNvPr id="1" name=""/>
        <p:cNvGrpSpPr/>
        <p:nvPr/>
      </p:nvGrpSpPr>
      <p:grpSpPr>
        <a:xfrm>
          <a:off x="0" y="0"/>
          <a:ext cx="0" cy="0"/>
          <a:chOff x="0" y="0"/>
          <a:chExt cx="0" cy="0"/>
        </a:xfrm>
      </p:grpSpPr>
      <p:sp>
        <p:nvSpPr>
          <p:cNvPr id="30" name="Title Text"/>
          <p:cNvSpPr txBox="1"/>
          <p:nvPr>
            <p:ph type="title"/>
          </p:nvPr>
        </p:nvSpPr>
        <p:spPr>
          <a:xfrm>
            <a:off x="1778000" y="4533900"/>
            <a:ext cx="20828000" cy="4648200"/>
          </a:xfrm>
          <a:prstGeom prst="rect">
            <a:avLst/>
          </a:prstGeom>
        </p:spPr>
        <p:txBody>
          <a:bodyPr/>
          <a:lstStyle/>
          <a:p>
            <a:pPr/>
            <a:r>
              <a:t>Title Text</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Vertical">
    <p:spTree>
      <p:nvGrpSpPr>
        <p:cNvPr id="1" name=""/>
        <p:cNvGrpSpPr/>
        <p:nvPr/>
      </p:nvGrpSpPr>
      <p:grpSpPr>
        <a:xfrm>
          <a:off x="0" y="0"/>
          <a:ext cx="0" cy="0"/>
          <a:chOff x="0" y="0"/>
          <a:chExt cx="0" cy="0"/>
        </a:xfrm>
      </p:grpSpPr>
      <p:sp>
        <p:nvSpPr>
          <p:cNvPr id="38" name="Heron flying low over a beach with a short fence in the foreground"/>
          <p:cNvSpPr/>
          <p:nvPr>
            <p:ph type="pic" sz="half" idx="21"/>
          </p:nvPr>
        </p:nvSpPr>
        <p:spPr>
          <a:xfrm>
            <a:off x="12827000" y="952500"/>
            <a:ext cx="11468100" cy="11468100"/>
          </a:xfrm>
          <a:prstGeom prst="rect">
            <a:avLst/>
          </a:prstGeom>
        </p:spPr>
        <p:txBody>
          <a:bodyPr lIns="91439" tIns="45719" rIns="91439" bIns="45719" anchor="t">
            <a:noAutofit/>
          </a:bodyPr>
          <a:lstStyle/>
          <a:p>
            <a:pPr/>
          </a:p>
        </p:txBody>
      </p:sp>
      <p:sp>
        <p:nvSpPr>
          <p:cNvPr id="39" name="Title Text"/>
          <p:cNvSpPr txBox="1"/>
          <p:nvPr>
            <p:ph type="title"/>
          </p:nvPr>
        </p:nvSpPr>
        <p:spPr>
          <a:xfrm>
            <a:off x="1651000" y="952500"/>
            <a:ext cx="10223500" cy="5549900"/>
          </a:xfrm>
          <a:prstGeom prst="rect">
            <a:avLst/>
          </a:prstGeom>
        </p:spPr>
        <p:txBody>
          <a:bodyPr anchor="b"/>
          <a:lstStyle>
            <a:lvl1pPr>
              <a:defRPr sz="8400"/>
            </a:lvl1pPr>
          </a:lstStyle>
          <a:p>
            <a:pPr/>
            <a:r>
              <a:t>Title Text</a:t>
            </a:r>
          </a:p>
        </p:txBody>
      </p:sp>
      <p:sp>
        <p:nvSpPr>
          <p:cNvPr id="40" name="Body Level One…"/>
          <p:cNvSpPr txBox="1"/>
          <p:nvPr>
            <p:ph type="body" sz="quarter" idx="1"/>
          </p:nvPr>
        </p:nvSpPr>
        <p:spPr>
          <a:xfrm>
            <a:off x="1651000" y="6527800"/>
            <a:ext cx="10223500" cy="5727700"/>
          </a:xfrm>
          <a:prstGeom prst="rect">
            <a:avLst/>
          </a:prstGeom>
        </p:spPr>
        <p:txBody>
          <a:bodyPr anchor="t"/>
          <a:lstStyle>
            <a:lvl1pPr marL="0" indent="0" algn="ctr">
              <a:spcBef>
                <a:spcPts val="0"/>
              </a:spcBef>
              <a:buSzTx/>
              <a:buNone/>
              <a:defRPr sz="5400"/>
            </a:lvl1pPr>
            <a:lvl2pPr marL="0" indent="0" algn="ctr">
              <a:spcBef>
                <a:spcPts val="0"/>
              </a:spcBef>
              <a:buSzTx/>
              <a:buNone/>
              <a:defRPr sz="5400"/>
            </a:lvl2pPr>
            <a:lvl3pPr marL="0" indent="0" algn="ctr">
              <a:spcBef>
                <a:spcPts val="0"/>
              </a:spcBef>
              <a:buSzTx/>
              <a:buNone/>
              <a:defRPr sz="5400"/>
            </a:lvl3pPr>
            <a:lvl4pPr marL="0" indent="0" algn="ctr">
              <a:spcBef>
                <a:spcPts val="0"/>
              </a:spcBef>
              <a:buSzTx/>
              <a:buNone/>
              <a:defRPr sz="5400"/>
            </a:lvl4pPr>
            <a:lvl5pPr marL="0" indent="0" algn="ctr">
              <a:spcBef>
                <a:spcPts val="0"/>
              </a:spcBef>
              <a:buSzTx/>
              <a:buNone/>
              <a:defRPr sz="5400"/>
            </a:lvl5pPr>
          </a:lstStyle>
          <a:p>
            <a:pPr/>
            <a:r>
              <a:t>Body Level One</a:t>
            </a:r>
          </a:p>
          <a:p>
            <a:pPr lvl="1"/>
            <a:r>
              <a:t>Body Level Two</a:t>
            </a:r>
          </a:p>
          <a:p>
            <a:pPr lvl="2"/>
            <a:r>
              <a:t>Body Level Three</a:t>
            </a:r>
          </a:p>
          <a:p>
            <a:pPr lvl="3"/>
            <a:r>
              <a:t>Body Level Four</a:t>
            </a:r>
          </a:p>
          <a:p>
            <a:pPr lvl="4"/>
            <a:r>
              <a:t>Body Level Five</a:t>
            </a:r>
          </a:p>
        </p:txBody>
      </p:sp>
      <p:sp>
        <p:nvSpPr>
          <p:cNvPr id="4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48" name="Title Text"/>
          <p:cNvSpPr txBox="1"/>
          <p:nvPr>
            <p:ph type="title"/>
          </p:nvPr>
        </p:nvSpPr>
        <p:spPr>
          <a:prstGeom prst="rect">
            <a:avLst/>
          </a:prstGeom>
        </p:spPr>
        <p:txBody>
          <a:bodyPr/>
          <a:lstStyle/>
          <a:p>
            <a:pPr/>
            <a:r>
              <a:t>Title Text</a:t>
            </a:r>
          </a:p>
        </p:txBody>
      </p:sp>
      <p:sp>
        <p:nvSpPr>
          <p:cNvPr id="4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56" name="Title Text"/>
          <p:cNvSpPr txBox="1"/>
          <p:nvPr>
            <p:ph type="title"/>
          </p:nvPr>
        </p:nvSpPr>
        <p:spPr>
          <a:prstGeom prst="rect">
            <a:avLst/>
          </a:prstGeom>
        </p:spPr>
        <p:txBody>
          <a:bodyPr/>
          <a:lstStyle/>
          <a:p>
            <a:pPr/>
            <a:r>
              <a:t>Title Text</a:t>
            </a:r>
          </a:p>
        </p:txBody>
      </p:sp>
      <p:sp>
        <p:nvSpPr>
          <p:cNvPr id="57" name="Body Level One…"/>
          <p:cNvSpPr txBox="1"/>
          <p:nvPr>
            <p:ph type="body" idx="1"/>
          </p:nvPr>
        </p:nvSpPr>
        <p:spPr>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5" name="Sandy path between two hills leading to the ocean"/>
          <p:cNvSpPr/>
          <p:nvPr>
            <p:ph type="pic" sz="half" idx="21"/>
          </p:nvPr>
        </p:nvSpPr>
        <p:spPr>
          <a:xfrm>
            <a:off x="10960100" y="3149600"/>
            <a:ext cx="13944600" cy="9296400"/>
          </a:xfrm>
          <a:prstGeom prst="rect">
            <a:avLst/>
          </a:prstGeom>
        </p:spPr>
        <p:txBody>
          <a:bodyPr lIns="91439" tIns="45719" rIns="91439" bIns="45719" anchor="t">
            <a:noAutofit/>
          </a:bodyPr>
          <a:lstStyle/>
          <a:p>
            <a:pPr/>
          </a:p>
        </p:txBody>
      </p:sp>
      <p:sp>
        <p:nvSpPr>
          <p:cNvPr id="66" name="Title Text"/>
          <p:cNvSpPr txBox="1"/>
          <p:nvPr>
            <p:ph type="title"/>
          </p:nvPr>
        </p:nvSpPr>
        <p:spPr>
          <a:prstGeom prst="rect">
            <a:avLst/>
          </a:prstGeom>
        </p:spPr>
        <p:txBody>
          <a:bodyPr/>
          <a:lstStyle/>
          <a:p>
            <a:pPr/>
            <a:r>
              <a:t>Title Text</a:t>
            </a:r>
          </a:p>
        </p:txBody>
      </p:sp>
      <p:sp>
        <p:nvSpPr>
          <p:cNvPr id="67"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5" name="Title Text"/>
          <p:cNvSpPr txBox="1"/>
          <p:nvPr>
            <p:ph type="title"/>
          </p:nvPr>
        </p:nvSpPr>
        <p:spPr>
          <a:prstGeom prst="rect">
            <a:avLst/>
          </a:prstGeom>
        </p:spPr>
        <p:txBody>
          <a:bodyPr/>
          <a:lstStyle/>
          <a:p>
            <a:pPr/>
            <a:r>
              <a:t>Title Text</a:t>
            </a:r>
          </a:p>
        </p:txBody>
      </p:sp>
      <p:sp>
        <p:nvSpPr>
          <p:cNvPr id="76"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4" name="Title Text"/>
          <p:cNvSpPr txBox="1"/>
          <p:nvPr>
            <p:ph type="title"/>
          </p:nvPr>
        </p:nvSpPr>
        <p:spPr>
          <a:prstGeom prst="rect">
            <a:avLst/>
          </a:prstGeom>
        </p:spPr>
        <p:txBody>
          <a:bodyPr/>
          <a:lstStyle/>
          <a:p>
            <a:pPr/>
            <a:r>
              <a:t>Title Text</a:t>
            </a:r>
          </a:p>
        </p:txBody>
      </p:sp>
      <p:sp>
        <p:nvSpPr>
          <p:cNvPr id="85" name="Body Level One…"/>
          <p:cNvSpPr txBox="1"/>
          <p:nvPr>
            <p:ph type="body" sz="half" idx="1"/>
          </p:nvPr>
        </p:nvSpPr>
        <p:spPr>
          <a:xfrm>
            <a:off x="1689100" y="3149600"/>
            <a:ext cx="10223500" cy="9296400"/>
          </a:xfrm>
          <a:prstGeom prst="rect">
            <a:avLst/>
          </a:prstGeom>
        </p:spPr>
        <p:txBody>
          <a:bodyPr/>
          <a:lstStyle>
            <a:lvl1pPr marL="558800" indent="-558800">
              <a:spcBef>
                <a:spcPts val="4500"/>
              </a:spcBef>
              <a:defRPr sz="3800"/>
            </a:lvl1pPr>
            <a:lvl2pPr marL="1117600" indent="-558800">
              <a:spcBef>
                <a:spcPts val="4500"/>
              </a:spcBef>
              <a:defRPr sz="3800"/>
            </a:lvl2pPr>
            <a:lvl3pPr marL="1676400" indent="-558800">
              <a:spcBef>
                <a:spcPts val="4500"/>
              </a:spcBef>
              <a:defRPr sz="3800"/>
            </a:lvl3pPr>
            <a:lvl4pPr marL="2235200" indent="-558800">
              <a:spcBef>
                <a:spcPts val="4500"/>
              </a:spcBef>
              <a:defRPr sz="3800"/>
            </a:lvl4pPr>
            <a:lvl5pPr marL="2794000" indent="-558800">
              <a:spcBef>
                <a:spcPts val="4500"/>
              </a:spcBef>
              <a:defRPr sz="3800"/>
            </a:lvl5pPr>
          </a:lstStyle>
          <a:p>
            <a:pPr/>
            <a:r>
              <a:t>Body Level One</a:t>
            </a:r>
          </a:p>
          <a:p>
            <a:pPr lvl="1"/>
            <a:r>
              <a:t>Body Level Two</a:t>
            </a:r>
          </a:p>
          <a:p>
            <a:pPr lvl="2"/>
            <a:r>
              <a:t>Body Level Three</a:t>
            </a:r>
          </a:p>
          <a:p>
            <a:pPr lvl="3"/>
            <a:r>
              <a:t>Body Level Four</a:t>
            </a:r>
          </a:p>
          <a:p>
            <a:pPr lvl="4"/>
            <a:r>
              <a:t>Body Level Five</a:t>
            </a:r>
          </a:p>
        </p:txBody>
      </p:sp>
      <p:sp>
        <p:nvSpPr>
          <p:cNvPr id="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93" name="Body Level One…"/>
          <p:cNvSpPr txBox="1"/>
          <p:nvPr>
            <p:ph type="body" idx="1"/>
          </p:nvPr>
        </p:nvSpPr>
        <p:spPr>
          <a:xfrm>
            <a:off x="1689100" y="1778000"/>
            <a:ext cx="21005800" cy="10160000"/>
          </a:xfrm>
          <a:prstGeom prst="rect">
            <a:avLst/>
          </a:prstGeom>
        </p:spPr>
        <p:txBody>
          <a:bodyPr/>
          <a:lstStyle>
            <a:lvl1pPr>
              <a:defRPr sz="4800"/>
            </a:lvl1pPr>
            <a:lvl2pPr>
              <a:defRPr sz="4800"/>
            </a:lvl2pPr>
            <a:lvl3pPr>
              <a:defRPr sz="4800"/>
            </a:lvl3pPr>
            <a:lvl4pPr>
              <a:defRPr sz="4800"/>
            </a:lvl4pPr>
            <a:lvl5pPr>
              <a:defRPr sz="4800"/>
            </a:lvl5pPr>
          </a:lstStyle>
          <a:p>
            <a:pPr/>
            <a:r>
              <a:t>Body Level One</a:t>
            </a:r>
          </a:p>
          <a:p>
            <a:pPr lvl="1"/>
            <a:r>
              <a:t>Body Level Two</a:t>
            </a:r>
          </a:p>
          <a:p>
            <a:pPr lvl="2"/>
            <a:r>
              <a:t>Body Level Three</a:t>
            </a:r>
          </a:p>
          <a:p>
            <a:pPr lvl="3"/>
            <a:r>
              <a:t>Body Level Four</a:t>
            </a:r>
          </a:p>
          <a:p>
            <a:pPr lvl="4"/>
            <a:r>
              <a:t>Body Level Five</a:t>
            </a:r>
          </a:p>
        </p:txBody>
      </p:sp>
      <p:sp>
        <p:nvSpPr>
          <p:cNvPr id="9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01" name="Sandy path between two hills leading to the ocean"/>
          <p:cNvSpPr/>
          <p:nvPr>
            <p:ph type="pic" sz="quarter" idx="21"/>
          </p:nvPr>
        </p:nvSpPr>
        <p:spPr>
          <a:xfrm>
            <a:off x="15300325" y="7048500"/>
            <a:ext cx="8324850" cy="5549900"/>
          </a:xfrm>
          <a:prstGeom prst="rect">
            <a:avLst/>
          </a:prstGeom>
        </p:spPr>
        <p:txBody>
          <a:bodyPr lIns="91439" tIns="45719" rIns="91439" bIns="45719" anchor="t">
            <a:noAutofit/>
          </a:bodyPr>
          <a:lstStyle/>
          <a:p>
            <a:pPr/>
          </a:p>
        </p:txBody>
      </p:sp>
      <p:sp>
        <p:nvSpPr>
          <p:cNvPr id="102" name="Heron flying low over a beach with a short fence in the foreground"/>
          <p:cNvSpPr/>
          <p:nvPr>
            <p:ph type="pic" sz="quarter" idx="22"/>
          </p:nvPr>
        </p:nvSpPr>
        <p:spPr>
          <a:xfrm>
            <a:off x="15760700" y="863600"/>
            <a:ext cx="7404100" cy="7404100"/>
          </a:xfrm>
          <a:prstGeom prst="rect">
            <a:avLst/>
          </a:prstGeom>
        </p:spPr>
        <p:txBody>
          <a:bodyPr lIns="91439" tIns="45719" rIns="91439" bIns="45719" anchor="t">
            <a:noAutofit/>
          </a:bodyPr>
          <a:lstStyle/>
          <a:p>
            <a:pPr/>
          </a:p>
        </p:txBody>
      </p:sp>
      <p:sp>
        <p:nvSpPr>
          <p:cNvPr id="103" name="View of beach and sea from a grassy sand dune"/>
          <p:cNvSpPr/>
          <p:nvPr>
            <p:ph type="pic" idx="23"/>
          </p:nvPr>
        </p:nvSpPr>
        <p:spPr>
          <a:xfrm>
            <a:off x="-990600" y="1130300"/>
            <a:ext cx="17202150" cy="11468100"/>
          </a:xfrm>
          <a:prstGeom prst="rect">
            <a:avLst/>
          </a:prstGeom>
        </p:spPr>
        <p:txBody>
          <a:bodyPr lIns="91439" tIns="45719" rIns="91439" bIns="45719" anchor="t">
            <a:noAutofit/>
          </a:bodyPr>
          <a:lstStyle/>
          <a:p>
            <a:pPr/>
          </a:p>
        </p:txBody>
      </p:sp>
      <p:sp>
        <p:nvSpPr>
          <p:cNvPr id="1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1" name="–Johnny Appleseed"/>
          <p:cNvSpPr txBox="1"/>
          <p:nvPr>
            <p:ph type="body" sz="quarter" idx="21"/>
          </p:nvPr>
        </p:nvSpPr>
        <p:spPr>
          <a:xfrm>
            <a:off x="2387600" y="8953500"/>
            <a:ext cx="19621500" cy="585521"/>
          </a:xfrm>
          <a:prstGeom prst="rect">
            <a:avLst/>
          </a:prstGeom>
        </p:spPr>
        <p:txBody>
          <a:bodyPr anchor="t">
            <a:spAutoFit/>
          </a:bodyPr>
          <a:lstStyle>
            <a:lvl1pPr marL="0" indent="0" algn="ctr">
              <a:spcBef>
                <a:spcPts val="0"/>
              </a:spcBef>
              <a:buSzTx/>
              <a:buNone/>
              <a:defRPr i="1" sz="3200"/>
            </a:lvl1pPr>
          </a:lstStyle>
          <a:p>
            <a:pPr/>
            <a:r>
              <a:t>–Johnny Appleseed</a:t>
            </a:r>
          </a:p>
        </p:txBody>
      </p:sp>
      <p:sp>
        <p:nvSpPr>
          <p:cNvPr id="112" name="“Type a quote here.”"/>
          <p:cNvSpPr txBox="1"/>
          <p:nvPr>
            <p:ph type="body" sz="quarter" idx="22"/>
          </p:nvPr>
        </p:nvSpPr>
        <p:spPr>
          <a:xfrm>
            <a:off x="2387600" y="6076950"/>
            <a:ext cx="19621500" cy="825500"/>
          </a:xfrm>
          <a:prstGeom prst="rect">
            <a:avLst/>
          </a:prstGeom>
        </p:spPr>
        <p:txBody>
          <a:bodyPr>
            <a:spAutoFit/>
          </a:bodyPr>
          <a:lstStyle>
            <a:lvl1pPr marL="0" indent="0" algn="ctr">
              <a:spcBef>
                <a:spcPts val="0"/>
              </a:spcBef>
              <a:buSzTx/>
              <a:buNone/>
              <a:defRPr sz="4800">
                <a:latin typeface="+mn-lt"/>
                <a:ea typeface="+mn-ea"/>
                <a:cs typeface="+mn-cs"/>
                <a:sym typeface="Helvetica Neue Medium"/>
              </a:defRPr>
            </a:lvl1pPr>
          </a:lstStyle>
          <a:p>
            <a:pPr/>
            <a:r>
              <a:t>“Type a quote here.” </a:t>
            </a:r>
          </a:p>
        </p:txBody>
      </p:sp>
      <p:sp>
        <p:nvSpPr>
          <p:cNvPr id="1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20" name="View of beach and sea from a grassy sand dune"/>
          <p:cNvSpPr/>
          <p:nvPr>
            <p:ph type="pic" idx="21"/>
          </p:nvPr>
        </p:nvSpPr>
        <p:spPr>
          <a:xfrm>
            <a:off x="-50800" y="-1270000"/>
            <a:ext cx="24485600" cy="16323734"/>
          </a:xfrm>
          <a:prstGeom prst="rect">
            <a:avLst/>
          </a:prstGeom>
        </p:spPr>
        <p:txBody>
          <a:bodyPr lIns="91439" tIns="45719" rIns="91439" bIns="45719" anchor="t">
            <a:noAutofit/>
          </a:bodyPr>
          <a:lstStyle/>
          <a:p>
            <a:pPr/>
          </a:p>
        </p:txBody>
      </p:sp>
      <p:sp>
        <p:nvSpPr>
          <p:cNvPr id="12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689100" y="355600"/>
            <a:ext cx="21005800" cy="228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3" name="Body Level One…"/>
          <p:cNvSpPr txBox="1"/>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959031" y="13081000"/>
            <a:ext cx="453238" cy="461059"/>
          </a:xfrm>
          <a:prstGeom prst="rect">
            <a:avLst/>
          </a:prstGeom>
          <a:ln w="12700">
            <a:miter lim="400000"/>
          </a:ln>
        </p:spPr>
        <p:txBody>
          <a:bodyPr wrap="none" lIns="50800" tIns="50800" rIns="50800" bIns="50800">
            <a:spAutoFit/>
          </a:bodyPr>
          <a:lstStyle>
            <a:lvl1pPr algn="ctr">
              <a:spcBef>
                <a:spcPts val="0"/>
              </a:spcBef>
              <a:defRPr sz="2400">
                <a:latin typeface="Helvetica Neue Light"/>
                <a:ea typeface="Helvetica Neue Light"/>
                <a:cs typeface="Helvetica Neue Light"/>
                <a:sym typeface="Helvetica Neue Light"/>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xmlns:p14="http://schemas.microsoft.com/office/powerpoint/2010/main" spd="med" advClick="1"/>
  <p:txStyles>
    <p:titleStyle>
      <a:lvl1pPr marL="0" marR="0" indent="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1pPr>
      <a:lvl2pPr marL="0" marR="0" indent="457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2pPr>
      <a:lvl3pPr marL="0" marR="0" indent="914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11200" u="none">
          <a:solidFill>
            <a:srgbClr val="000000"/>
          </a:solidFill>
          <a:uFillTx/>
          <a:latin typeface="+mn-lt"/>
          <a:ea typeface="+mn-ea"/>
          <a:cs typeface="+mn-cs"/>
          <a:sym typeface="Helvetica Neue Medium"/>
        </a:defRPr>
      </a:lvl9pPr>
    </p:titleStyle>
    <p:bodyStyle>
      <a:lvl1pPr marL="63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1pPr>
      <a:lvl2pPr marL="127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2pPr>
      <a:lvl3pPr marL="190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3pPr>
      <a:lvl4pPr marL="254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4pPr>
      <a:lvl5pPr marL="317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5pPr>
      <a:lvl6pPr marL="381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6pPr>
      <a:lvl7pPr marL="444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7pPr>
      <a:lvl8pPr marL="5080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8pPr>
      <a:lvl9pPr marL="5715000" marR="0" indent="-635000" algn="l" defTabSz="825500" latinLnBrk="0">
        <a:lnSpc>
          <a:spcPct val="100000"/>
        </a:lnSpc>
        <a:spcBef>
          <a:spcPts val="5900"/>
        </a:spcBef>
        <a:spcAft>
          <a:spcPts val="0"/>
        </a:spcAft>
        <a:buClrTx/>
        <a:buSzPct val="125000"/>
        <a:buFontTx/>
        <a:buChar char="•"/>
        <a:tabLst/>
        <a:defRPr b="0" baseline="0" cap="none" i="0" spc="0" strike="noStrike" sz="5200" u="none">
          <a:solidFill>
            <a:srgbClr val="000000"/>
          </a:solidFill>
          <a:uFillTx/>
          <a:latin typeface="Helvetica Neue"/>
          <a:ea typeface="Helvetica Neue"/>
          <a:cs typeface="Helvetica Neue"/>
          <a:sym typeface="Helvetica Neue"/>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1pPr>
      <a:lvl2pPr marL="0" marR="0" indent="457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2pPr>
      <a:lvl3pPr marL="0" marR="0" indent="914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2400" u="none">
          <a:solidFill>
            <a:schemeClr val="tx1"/>
          </a:solidFill>
          <a:uFillTx/>
          <a:latin typeface="+mn-lt"/>
          <a:ea typeface="+mn-ea"/>
          <a:cs typeface="+mn-cs"/>
          <a:sym typeface="Helvetica Neue Ligh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hyperlink" Target="http://PMI.org" TargetMode="External"/><Relationship Id="rId5"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81C75"/>
        </a:solidFill>
      </p:bgPr>
    </p:bg>
    <p:spTree>
      <p:nvGrpSpPr>
        <p:cNvPr id="1" name=""/>
        <p:cNvGrpSpPr/>
        <p:nvPr/>
      </p:nvGrpSpPr>
      <p:grpSpPr>
        <a:xfrm>
          <a:off x="0" y="0"/>
          <a:ext cx="0" cy="0"/>
          <a:chOff x="0" y="0"/>
          <a:chExt cx="0" cy="0"/>
        </a:xfrm>
      </p:grpSpPr>
      <p:pic>
        <p:nvPicPr>
          <p:cNvPr id="137" name="Gemini_Generated_Image_7hxw2l7hxw2l7hxw.jpeg" descr="Gemini_Generated_Image_7hxw2l7hxw2l7hxw.jpeg"/>
          <p:cNvPicPr>
            <a:picLocks noChangeAspect="1"/>
          </p:cNvPicPr>
          <p:nvPr>
            <p:ph type="pic" idx="21"/>
          </p:nvPr>
        </p:nvPicPr>
        <p:blipFill>
          <a:blip r:embed="rId3">
            <a:extLst/>
          </a:blip>
          <a:srcRect l="7665" t="0" r="9278" b="0"/>
          <a:stretch>
            <a:fillRect/>
          </a:stretch>
        </p:blipFill>
        <p:spPr>
          <a:xfrm>
            <a:off x="12619958" y="-390525"/>
            <a:ext cx="12040688" cy="14496987"/>
          </a:xfrm>
          <a:prstGeom prst="rect">
            <a:avLst/>
          </a:prstGeom>
        </p:spPr>
      </p:pic>
      <p:sp>
        <p:nvSpPr>
          <p:cNvPr id="138" name="PMP MASTERY FRAMEWORK"/>
          <p:cNvSpPr txBox="1"/>
          <p:nvPr>
            <p:ph type="title"/>
          </p:nvPr>
        </p:nvSpPr>
        <p:spPr>
          <a:prstGeom prst="rect">
            <a:avLst/>
          </a:prstGeom>
        </p:spPr>
        <p:txBody>
          <a:bodyPr/>
          <a:lstStyle/>
          <a:p>
            <a:pPr defTabSz="709930">
              <a:defRPr sz="5504">
                <a:solidFill>
                  <a:srgbClr val="FFFFFF"/>
                </a:solidFill>
                <a:latin typeface="Poppins Black"/>
                <a:ea typeface="Poppins Black"/>
                <a:cs typeface="Poppins Black"/>
                <a:sym typeface="Poppins Black"/>
              </a:defRPr>
            </a:pPr>
          </a:p>
          <a:p>
            <a:pPr defTabSz="709930">
              <a:defRPr sz="5504">
                <a:solidFill>
                  <a:srgbClr val="FFFFFF"/>
                </a:solidFill>
                <a:latin typeface="Poppins Black"/>
                <a:ea typeface="Poppins Black"/>
                <a:cs typeface="Poppins Black"/>
                <a:sym typeface="Poppins Black"/>
              </a:defRPr>
            </a:pPr>
          </a:p>
          <a:p>
            <a:pPr defTabSz="709930">
              <a:defRPr sz="5504">
                <a:solidFill>
                  <a:srgbClr val="FFFFFF"/>
                </a:solidFill>
                <a:latin typeface="Poppins Black"/>
                <a:ea typeface="Poppins Black"/>
                <a:cs typeface="Poppins Black"/>
                <a:sym typeface="Poppins Black"/>
              </a:defRPr>
            </a:pPr>
          </a:p>
          <a:p>
            <a:pPr defTabSz="709930">
              <a:defRPr sz="5504">
                <a:solidFill>
                  <a:srgbClr val="FFFFFF"/>
                </a:solidFill>
                <a:latin typeface="Poppins Black"/>
                <a:ea typeface="Poppins Black"/>
                <a:cs typeface="Poppins Black"/>
                <a:sym typeface="Poppins Black"/>
              </a:defRPr>
            </a:pPr>
          </a:p>
          <a:p>
            <a:pPr defTabSz="709930">
              <a:defRPr sz="5504">
                <a:solidFill>
                  <a:srgbClr val="FFFFFF"/>
                </a:solidFill>
                <a:latin typeface="Poppins Black"/>
                <a:ea typeface="Poppins Black"/>
                <a:cs typeface="Poppins Black"/>
                <a:sym typeface="Poppins Black"/>
              </a:defRPr>
            </a:pPr>
            <a:r>
              <a:t>PMP MASTERY FRAMEWORK</a:t>
            </a:r>
          </a:p>
        </p:txBody>
      </p:sp>
      <p:sp>
        <p:nvSpPr>
          <p:cNvPr id="139" name="Day 1:…"/>
          <p:cNvSpPr txBox="1"/>
          <p:nvPr>
            <p:ph type="body" sz="quarter" idx="1"/>
          </p:nvPr>
        </p:nvSpPr>
        <p:spPr>
          <a:prstGeom prst="rect">
            <a:avLst/>
          </a:prstGeom>
        </p:spPr>
        <p:txBody>
          <a:bodyPr/>
          <a:lstStyle/>
          <a:p>
            <a:pPr>
              <a:defRPr sz="3300">
                <a:solidFill>
                  <a:srgbClr val="EBEBEB"/>
                </a:solidFill>
                <a:latin typeface="Poppins Regular"/>
                <a:ea typeface="Poppins Regular"/>
                <a:cs typeface="Poppins Regular"/>
                <a:sym typeface="Poppins Regular"/>
              </a:defRPr>
            </a:pPr>
            <a:r>
              <a:t>Day 1: </a:t>
            </a:r>
          </a:p>
          <a:p>
            <a:pPr>
              <a:defRPr sz="3300">
                <a:solidFill>
                  <a:srgbClr val="EBEBEB"/>
                </a:solidFill>
                <a:latin typeface="Poppins Bold"/>
                <a:ea typeface="Poppins Bold"/>
                <a:cs typeface="Poppins Bold"/>
                <a:sym typeface="Poppins Bold"/>
              </a:defRPr>
            </a:pPr>
            <a:r>
              <a:t>Introduction &amp; Foundations</a:t>
            </a:r>
          </a:p>
          <a:p>
            <a:pPr>
              <a:defRPr sz="3300">
                <a:solidFill>
                  <a:srgbClr val="EBEBEB"/>
                </a:solidFill>
                <a:latin typeface="Poppins Regular"/>
                <a:ea typeface="Poppins Regular"/>
                <a:cs typeface="Poppins Regular"/>
                <a:sym typeface="Poppins Regular"/>
              </a:defRPr>
            </a:pPr>
          </a:p>
          <a:p>
            <a:pPr>
              <a:defRPr sz="3300">
                <a:solidFill>
                  <a:srgbClr val="EBEBEB"/>
                </a:solidFill>
                <a:latin typeface="Poppins Regular"/>
                <a:ea typeface="Poppins Regular"/>
                <a:cs typeface="Poppins Regular"/>
                <a:sym typeface="Poppins Regular"/>
              </a:defRPr>
            </a:pPr>
          </a:p>
          <a:p>
            <a:pPr>
              <a:defRPr cap="all" sz="3300">
                <a:solidFill>
                  <a:srgbClr val="EBEBEB"/>
                </a:solidFill>
                <a:latin typeface="Poppins Black"/>
                <a:ea typeface="Poppins Black"/>
                <a:cs typeface="Poppins Black"/>
                <a:sym typeface="Poppins Black"/>
              </a:defRPr>
            </a:pPr>
            <a:r>
              <a:t>PMP Exam Preparation Course</a:t>
            </a:r>
          </a:p>
          <a:p>
            <a:pPr>
              <a:lnSpc>
                <a:spcPct val="80000"/>
              </a:lnSpc>
              <a:defRPr sz="4200">
                <a:solidFill>
                  <a:srgbClr val="FFFFFF"/>
                </a:solidFill>
                <a:latin typeface="Source Sans 3 Light"/>
                <a:ea typeface="Source Sans 3 Light"/>
                <a:cs typeface="Source Sans 3 Light"/>
                <a:sym typeface="Source Sans 3 Light"/>
              </a:defRPr>
            </a:pPr>
          </a:p>
        </p:txBody>
      </p:sp>
      <p:pic>
        <p:nvPicPr>
          <p:cNvPr id="140" name="pmp-mastery-framework-dark.png" descr="pmp-mastery-framework-dark.png"/>
          <p:cNvPicPr>
            <a:picLocks noChangeAspect="1"/>
          </p:cNvPicPr>
          <p:nvPr/>
        </p:nvPicPr>
        <p:blipFill>
          <a:blip r:embed="rId4">
            <a:extLst/>
          </a:blip>
          <a:stretch>
            <a:fillRect/>
          </a:stretch>
        </p:blipFill>
        <p:spPr>
          <a:xfrm>
            <a:off x="4095750" y="3790325"/>
            <a:ext cx="5334000" cy="1524001"/>
          </a:xfrm>
          <a:prstGeom prst="rect">
            <a:avLst/>
          </a:prstGeom>
          <a:ln w="12700">
            <a:miter lim="400000"/>
          </a:ln>
        </p:spPr>
      </p:pic>
      <p:pic>
        <p:nvPicPr>
          <p:cNvPr id="141" name="pmp-mastery-framework-mono.png" descr="pmp-mastery-framework-mono.png"/>
          <p:cNvPicPr>
            <a:picLocks noChangeAspect="1"/>
          </p:cNvPicPr>
          <p:nvPr/>
        </p:nvPicPr>
        <p:blipFill>
          <a:blip r:embed="rId5">
            <a:extLst/>
          </a:blip>
          <a:stretch>
            <a:fillRect/>
          </a:stretch>
        </p:blipFill>
        <p:spPr>
          <a:xfrm>
            <a:off x="4095750" y="12216971"/>
            <a:ext cx="5334000" cy="15240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5" name="Gemini_Generated_Image_328o94328o94328o.png" descr="Gemini_Generated_Image_328o94328o94328o.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46" name="Welcome &amp; Introductions"/>
          <p:cNvSpPr txBox="1"/>
          <p:nvPr>
            <p:ph type="title"/>
          </p:nvPr>
        </p:nvSpPr>
        <p:spPr>
          <a:prstGeom prst="rect">
            <a:avLst/>
          </a:prstGeom>
        </p:spPr>
        <p:txBody>
          <a:bodyPr/>
          <a:lstStyle>
            <a:lvl1pPr algn="l">
              <a:defRPr cap="all" sz="8800">
                <a:solidFill>
                  <a:srgbClr val="531B93"/>
                </a:solidFill>
                <a:latin typeface="Poppins Black"/>
                <a:ea typeface="Poppins Black"/>
                <a:cs typeface="Poppins Black"/>
                <a:sym typeface="Poppins Black"/>
              </a:defRPr>
            </a:lvl1pPr>
          </a:lstStyle>
          <a:p>
            <a:pPr/>
            <a:r>
              <a:t>Welcome &amp; Introductions</a:t>
            </a:r>
          </a:p>
        </p:txBody>
      </p:sp>
      <p:sp>
        <p:nvSpPr>
          <p:cNvPr id="147" name="👋 Instructor Introduction…"/>
          <p:cNvSpPr txBox="1"/>
          <p:nvPr>
            <p:ph type="body" sz="half" idx="1"/>
          </p:nvPr>
        </p:nvSpPr>
        <p:spPr>
          <a:xfrm>
            <a:off x="1689100" y="3149600"/>
            <a:ext cx="10223500" cy="8386058"/>
          </a:xfrm>
          <a:prstGeom prst="rect">
            <a:avLst/>
          </a:prstGeom>
        </p:spPr>
        <p:txBody>
          <a:bodyPr/>
          <a:lstStyle/>
          <a:p>
            <a:pPr marL="0" indent="0" defTabSz="693419">
              <a:spcBef>
                <a:spcPts val="4900"/>
              </a:spcBef>
              <a:buSzTx/>
              <a:buNone/>
              <a:defRPr sz="4535">
                <a:latin typeface="Poppins Regular"/>
                <a:ea typeface="Poppins Regular"/>
                <a:cs typeface="Poppins Regular"/>
                <a:sym typeface="Poppins Regular"/>
              </a:defRPr>
            </a:pPr>
            <a:r>
              <a:rPr>
                <a:solidFill>
                  <a:srgbClr val="FFFFFF"/>
                </a:solidFill>
              </a:rPr>
              <a:t>👋 </a:t>
            </a:r>
            <a:r>
              <a:rPr sz="5376">
                <a:latin typeface="Poppins Black"/>
                <a:ea typeface="Poppins Black"/>
                <a:cs typeface="Poppins Black"/>
                <a:sym typeface="Poppins Black"/>
              </a:rPr>
              <a:t>Instructor Introduction</a:t>
            </a:r>
            <a:endParaRPr>
              <a:solidFill>
                <a:srgbClr val="FFFFFF"/>
              </a:solidFill>
            </a:endParaRP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Background and credentials</a:t>
            </a: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PMP journey and experience</a:t>
            </a:r>
          </a:p>
          <a:p>
            <a:pPr marL="0" indent="0" defTabSz="693419">
              <a:spcBef>
                <a:spcPts val="4900"/>
              </a:spcBef>
              <a:buSzTx/>
              <a:buNone/>
              <a:defRPr sz="4535">
                <a:latin typeface="Poppins Regular"/>
                <a:ea typeface="Poppins Regular"/>
                <a:cs typeface="Poppins Regular"/>
                <a:sym typeface="Poppins Regular"/>
              </a:defRPr>
            </a:pPr>
            <a:r>
              <a:rPr>
                <a:solidFill>
                  <a:srgbClr val="FFFFFF"/>
                </a:solidFill>
              </a:rPr>
              <a:t>👥 </a:t>
            </a:r>
            <a:r>
              <a:rPr sz="5376">
                <a:latin typeface="Poppins Black"/>
                <a:ea typeface="Poppins Black"/>
                <a:cs typeface="Poppins Black"/>
                <a:sym typeface="Poppins Black"/>
              </a:rPr>
              <a:t>Student Introductions</a:t>
            </a:r>
            <a:endParaRPr>
              <a:solidFill>
                <a:srgbClr val="FFFFFF"/>
              </a:solidFill>
            </a:endParaRP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Your name</a:t>
            </a: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Current role</a:t>
            </a: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Project management background</a:t>
            </a:r>
          </a:p>
          <a:p>
            <a:pPr lvl="1" marL="1133475" indent="-600075" defTabSz="693419">
              <a:lnSpc>
                <a:spcPct val="80000"/>
              </a:lnSpc>
              <a:spcBef>
                <a:spcPts val="2600"/>
              </a:spcBef>
              <a:defRPr sz="3696">
                <a:solidFill>
                  <a:srgbClr val="5E5E5E"/>
                </a:solidFill>
                <a:latin typeface="Poppins Light"/>
                <a:ea typeface="Poppins Light"/>
                <a:cs typeface="Poppins Light"/>
                <a:sym typeface="Poppins Light"/>
              </a:defRPr>
            </a:pPr>
            <a:r>
              <a:t>Why you're pursuing PMP</a:t>
            </a:r>
          </a:p>
        </p:txBody>
      </p:sp>
      <p:sp>
        <p:nvSpPr>
          <p:cNvPr id="148" name="Slide Number"/>
          <p:cNvSpPr txBox="1"/>
          <p:nvPr>
            <p:ph type="sldNum" sz="quarter" idx="4294967295"/>
          </p:nvPr>
        </p:nvSpPr>
        <p:spPr>
          <a:xfrm>
            <a:off x="12074017" y="13081000"/>
            <a:ext cx="223267" cy="374649"/>
          </a:xfrm>
          <a:prstGeom prst="rect">
            <a:avLst/>
          </a:prstGeom>
          <a:extLst>
            <a:ext uri="{C572A759-6A51-4108-AA02-DFA0A04FC94B}">
              <ma14:wrappingTextBoxFlag xmlns:ma14="http://schemas.microsoft.com/office/mac/drawingml/2011/main" val="1"/>
            </a:ext>
          </a:extLst>
        </p:spPr>
        <p:txBody>
          <a:bodyPr/>
          <a:lstStyle>
            <a:lvl1pPr>
              <a:defRPr sz="1500">
                <a:solidFill>
                  <a:srgbClr val="929292"/>
                </a:solidFill>
                <a:latin typeface="Poppins Light"/>
                <a:ea typeface="Poppins Light"/>
                <a:cs typeface="Poppins Light"/>
                <a:sym typeface="Poppins Light"/>
              </a:defRPr>
            </a:lvl1pPr>
          </a:lstStyle>
          <a:p>
            <a:pPr/>
            <a:fld id="{86CB4B4D-7CA3-9044-876B-883B54F8677D}" type="slidenum"/>
          </a:p>
        </p:txBody>
      </p:sp>
      <p:pic>
        <p:nvPicPr>
          <p:cNvPr id="149"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3" name="Gemini_Generated_Image_xqfxlxxqfxlxxqfx.png" descr="Gemini_Generated_Image_xqfxlxxqfxlxxqfx.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54" name="Course Purpose &amp; Focus"/>
          <p:cNvSpPr txBox="1"/>
          <p:nvPr>
            <p:ph type="title"/>
          </p:nvPr>
        </p:nvSpPr>
        <p:spPr>
          <a:prstGeom prst="rect">
            <a:avLst/>
          </a:prstGeom>
        </p:spPr>
        <p:txBody>
          <a:bodyPr/>
          <a:lstStyle>
            <a:lvl1pPr algn="l">
              <a:defRPr cap="all" sz="8800">
                <a:solidFill>
                  <a:srgbClr val="531B93"/>
                </a:solidFill>
                <a:latin typeface="Poppins Black"/>
                <a:ea typeface="Poppins Black"/>
                <a:cs typeface="Poppins Black"/>
                <a:sym typeface="Poppins Black"/>
              </a:defRPr>
            </a:lvl1pPr>
          </a:lstStyle>
          <a:p>
            <a:pPr/>
            <a:r>
              <a:t>Course Purpose &amp; Focus</a:t>
            </a:r>
          </a:p>
        </p:txBody>
      </p:sp>
      <p:sp>
        <p:nvSpPr>
          <p:cNvPr id="155" name="🎯 Primary Goal: Help you pass the PMP® exam…"/>
          <p:cNvSpPr txBox="1"/>
          <p:nvPr>
            <p:ph type="body" sz="half" idx="1"/>
          </p:nvPr>
        </p:nvSpPr>
        <p:spPr>
          <a:prstGeom prst="rect">
            <a:avLst/>
          </a:prstGeom>
        </p:spPr>
        <p:txBody>
          <a:bodyPr/>
          <a:lstStyle/>
          <a:p>
            <a:pPr marL="0" indent="0" defTabSz="495300">
              <a:lnSpc>
                <a:spcPct val="80000"/>
              </a:lnSpc>
              <a:spcBef>
                <a:spcPts val="1900"/>
              </a:spcBef>
              <a:buSzTx/>
              <a:buNone/>
              <a:defRPr sz="3840">
                <a:latin typeface="Poppins Regular"/>
                <a:ea typeface="Poppins Regular"/>
                <a:cs typeface="Poppins Regular"/>
                <a:sym typeface="Poppins Regular"/>
              </a:defRPr>
            </a:pPr>
            <a:r>
              <a:t>🎯 </a:t>
            </a:r>
            <a:r>
              <a:rPr>
                <a:latin typeface="Poppins Black"/>
                <a:ea typeface="Poppins Black"/>
                <a:cs typeface="Poppins Black"/>
                <a:sym typeface="Poppins Black"/>
              </a:rPr>
              <a:t>Primary Goal: </a:t>
            </a:r>
            <a:r>
              <a:rPr sz="2640">
                <a:solidFill>
                  <a:srgbClr val="5E5E5E"/>
                </a:solidFill>
                <a:latin typeface="Poppins Light"/>
                <a:ea typeface="Poppins Light"/>
                <a:cs typeface="Poppins Light"/>
                <a:sym typeface="Poppins Light"/>
              </a:rPr>
              <a:t>Help you pass the PMP® exam</a:t>
            </a:r>
          </a:p>
          <a:p>
            <a:pPr marL="0" indent="0" defTabSz="495300">
              <a:lnSpc>
                <a:spcPct val="80000"/>
              </a:lnSpc>
              <a:spcBef>
                <a:spcPts val="3500"/>
              </a:spcBef>
              <a:buSzTx/>
              <a:buNone/>
              <a:defRPr sz="3840">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ECO-Focused Approach</a:t>
            </a:r>
            <a:endParaRPr>
              <a:solidFill>
                <a:srgbClr val="FFFFFF"/>
              </a:solidFill>
            </a:endParaRP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Based on PMP Exam Content Outline (ECO)</a:t>
            </a: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Not just the PMBOK® Guide</a:t>
            </a: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Detailed review of domains, tasks, and enablers</a:t>
            </a:r>
          </a:p>
          <a:p>
            <a:pPr marL="0" indent="0" defTabSz="495300">
              <a:lnSpc>
                <a:spcPct val="80000"/>
              </a:lnSpc>
              <a:spcBef>
                <a:spcPts val="3500"/>
              </a:spcBef>
              <a:buSzTx/>
              <a:buNone/>
              <a:defRPr sz="3840">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What You'll Get:</a:t>
            </a:r>
            <a:endParaRPr>
              <a:solidFill>
                <a:srgbClr val="FFFFFF"/>
              </a:solidFill>
            </a:endParaRP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Deep understanding of concepts</a:t>
            </a: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Practical application strategies</a:t>
            </a: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Exam-taking techniques</a:t>
            </a:r>
          </a:p>
          <a:p>
            <a:pPr marL="0" indent="0" defTabSz="495300">
              <a:lnSpc>
                <a:spcPct val="80000"/>
              </a:lnSpc>
              <a:spcBef>
                <a:spcPts val="1900"/>
              </a:spcBef>
              <a:buSzTx/>
              <a:buNone/>
              <a:defRPr sz="2640">
                <a:solidFill>
                  <a:srgbClr val="5E5E5E"/>
                </a:solidFill>
                <a:latin typeface="Poppins Light"/>
                <a:ea typeface="Poppins Light"/>
                <a:cs typeface="Poppins Light"/>
                <a:sym typeface="Poppins Light"/>
              </a:defRPr>
            </a:pPr>
            <a:r>
              <a:t>- Confidence to succeed</a:t>
            </a:r>
          </a:p>
          <a:p>
            <a:pPr marL="0" indent="0" defTabSz="495300">
              <a:spcBef>
                <a:spcPts val="3500"/>
              </a:spcBef>
              <a:buSzTx/>
              <a:buNone/>
              <a:defRPr sz="3240"/>
            </a:pPr>
          </a:p>
        </p:txBody>
      </p:sp>
      <p:sp>
        <p:nvSpPr>
          <p:cNvPr id="156" name="Slide Number"/>
          <p:cNvSpPr txBox="1"/>
          <p:nvPr>
            <p:ph type="sldNum" sz="quarter" idx="4294967295"/>
          </p:nvPr>
        </p:nvSpPr>
        <p:spPr>
          <a:xfrm>
            <a:off x="12043765" y="13081000"/>
            <a:ext cx="283770" cy="461059"/>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57" name="pmp-mastery-framework-mono.png" descr="pmp-mastery-framework-mono.png"/>
          <p:cNvPicPr>
            <a:picLocks noChangeAspect="1"/>
          </p:cNvPicPr>
          <p:nvPr/>
        </p:nvPicPr>
        <p:blipFill>
          <a:blip r:embed="rId4">
            <a:extLst/>
          </a:blip>
          <a:stretch>
            <a:fillRect/>
          </a:stretch>
        </p:blipFill>
        <p:spPr>
          <a:xfrm>
            <a:off x="1389579" y="12494614"/>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Gemini_Generated_Image_40r1gh40r1gh40r1.png" descr="Gemini_Generated_Image_40r1gh40r1gh40r1.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62" name="Key Learning Outcomes"/>
          <p:cNvSpPr txBox="1"/>
          <p:nvPr>
            <p:ph type="title"/>
          </p:nvPr>
        </p:nvSpPr>
        <p:spPr>
          <a:prstGeom prst="rect">
            <a:avLst/>
          </a:prstGeom>
        </p:spPr>
        <p:txBody>
          <a:bodyPr/>
          <a:lstStyle>
            <a:lvl1pPr algn="l">
              <a:defRPr>
                <a:solidFill>
                  <a:srgbClr val="531B93"/>
                </a:solidFill>
                <a:latin typeface="Poppins Black"/>
                <a:ea typeface="Poppins Black"/>
                <a:cs typeface="Poppins Black"/>
                <a:sym typeface="Poppins Black"/>
              </a:defRPr>
            </a:lvl1pPr>
          </a:lstStyle>
          <a:p>
            <a:pPr/>
            <a:r>
              <a:t>Key Learning Outcomes</a:t>
            </a:r>
          </a:p>
        </p:txBody>
      </p:sp>
      <p:sp>
        <p:nvSpPr>
          <p:cNvPr id="163" name="By completing this course, you will be able to:…"/>
          <p:cNvSpPr txBox="1"/>
          <p:nvPr>
            <p:ph type="body" sz="half" idx="1"/>
          </p:nvPr>
        </p:nvSpPr>
        <p:spPr>
          <a:xfrm>
            <a:off x="1689100" y="3149600"/>
            <a:ext cx="10223500" cy="8264988"/>
          </a:xfrm>
          <a:prstGeom prst="rect">
            <a:avLst/>
          </a:prstGeom>
        </p:spPr>
        <p:txBody>
          <a:bodyPr/>
          <a:lstStyle/>
          <a:p>
            <a:pPr marL="0" indent="0" defTabSz="478790">
              <a:spcBef>
                <a:spcPts val="3400"/>
              </a:spcBef>
              <a:buSzTx/>
              <a:buNone/>
              <a:defRPr sz="2725">
                <a:latin typeface="Poppins Light"/>
                <a:ea typeface="Poppins Light"/>
                <a:cs typeface="Poppins Light"/>
                <a:sym typeface="Poppins Light"/>
              </a:defRPr>
            </a:pPr>
            <a:r>
              <a:t>By completing this course, you will be able to:</a:t>
            </a: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1. </a:t>
            </a:r>
            <a:r>
              <a:rPr>
                <a:latin typeface="Poppins Black"/>
                <a:ea typeface="Poppins Black"/>
                <a:cs typeface="Poppins Black"/>
                <a:sym typeface="Poppins Black"/>
              </a:rPr>
              <a:t>Understand</a:t>
            </a:r>
            <a:r>
              <a:t> t</a:t>
            </a:r>
            <a:r>
              <a:rPr>
                <a:solidFill>
                  <a:srgbClr val="5E5E5E"/>
                </a:solidFill>
              </a:rPr>
              <a:t>he PMP Exam Structure (Domains &amp; Weightings)</a:t>
            </a:r>
            <a:endParaRPr>
              <a:solidFill>
                <a:srgbClr val="5E5E5E"/>
              </a:solidFill>
            </a:endParaRP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2. </a:t>
            </a:r>
            <a:r>
              <a:rPr>
                <a:latin typeface="Poppins Black"/>
                <a:ea typeface="Poppins Black"/>
                <a:cs typeface="Poppins Black"/>
                <a:sym typeface="Poppins Black"/>
              </a:rPr>
              <a:t>Master</a:t>
            </a:r>
            <a:r>
              <a:t> </a:t>
            </a:r>
            <a:r>
              <a:rPr>
                <a:solidFill>
                  <a:srgbClr val="5E5E5E"/>
                </a:solidFill>
              </a:rPr>
              <a:t>Core Concepts relevant to the exam</a:t>
            </a:r>
            <a:endParaRPr>
              <a:solidFill>
                <a:srgbClr val="5E5E5E"/>
              </a:solidFill>
            </a:endParaRP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3.</a:t>
            </a:r>
            <a:r>
              <a:t> </a:t>
            </a:r>
            <a:r>
              <a:rPr>
                <a:latin typeface="Poppins Black"/>
                <a:ea typeface="Poppins Black"/>
                <a:cs typeface="Poppins Black"/>
                <a:sym typeface="Poppins Black"/>
              </a:rPr>
              <a:t>Identify</a:t>
            </a:r>
            <a:r>
              <a:t> </a:t>
            </a:r>
            <a:r>
              <a:rPr>
                <a:solidFill>
                  <a:srgbClr val="5E5E5E"/>
                </a:solidFill>
              </a:rPr>
              <a:t>key Tasks and Enablers within the ECO</a:t>
            </a:r>
            <a:endParaRPr>
              <a:solidFill>
                <a:srgbClr val="5E5E5E"/>
              </a:solidFill>
            </a:endParaRP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4.</a:t>
            </a:r>
            <a:r>
              <a:t> </a:t>
            </a:r>
            <a:r>
              <a:rPr>
                <a:latin typeface="Poppins Black"/>
                <a:ea typeface="Poppins Black"/>
                <a:cs typeface="Poppins Black"/>
                <a:sym typeface="Poppins Black"/>
              </a:rPr>
              <a:t>Apply</a:t>
            </a:r>
            <a:r>
              <a:t> </a:t>
            </a:r>
            <a:r>
              <a:rPr>
                <a:solidFill>
                  <a:srgbClr val="5E5E5E"/>
                </a:solidFill>
              </a:rPr>
              <a:t>the PMP Mindset to scenarios</a:t>
            </a:r>
            <a:endParaRPr>
              <a:solidFill>
                <a:srgbClr val="5E5E5E"/>
              </a:solidFill>
            </a:endParaRP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5.</a:t>
            </a:r>
            <a:r>
              <a:t> </a:t>
            </a:r>
            <a:r>
              <a:rPr>
                <a:latin typeface="Poppins Black"/>
                <a:ea typeface="Poppins Black"/>
                <a:cs typeface="Poppins Black"/>
                <a:sym typeface="Poppins Black"/>
              </a:rPr>
              <a:t>Analyze</a:t>
            </a:r>
            <a:r>
              <a:t> </a:t>
            </a:r>
            <a:r>
              <a:rPr>
                <a:solidFill>
                  <a:srgbClr val="5E5E5E"/>
                </a:solidFill>
              </a:rPr>
              <a:t>Exam Questions effectively</a:t>
            </a: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6.</a:t>
            </a:r>
            <a:r>
              <a:rPr>
                <a:latin typeface="Poppins Black"/>
                <a:ea typeface="Poppins Black"/>
                <a:cs typeface="Poppins Black"/>
                <a:sym typeface="Poppins Black"/>
              </a:rPr>
              <a:t> Develop</a:t>
            </a:r>
            <a:r>
              <a:t> </a:t>
            </a:r>
            <a:r>
              <a:rPr>
                <a:solidFill>
                  <a:srgbClr val="5E5E5E"/>
                </a:solidFill>
              </a:rPr>
              <a:t>A Personalized Study Strategy</a:t>
            </a: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7.</a:t>
            </a:r>
            <a:r>
              <a:t> </a:t>
            </a:r>
            <a:r>
              <a:rPr>
                <a:latin typeface="Poppins Black"/>
                <a:ea typeface="Poppins Black"/>
                <a:cs typeface="Poppins Black"/>
                <a:sym typeface="Poppins Black"/>
              </a:rPr>
              <a:t>Manage</a:t>
            </a:r>
            <a:r>
              <a:t> E</a:t>
            </a:r>
            <a:r>
              <a:rPr>
                <a:solidFill>
                  <a:srgbClr val="5E5E5E"/>
                </a:solidFill>
              </a:rPr>
              <a:t>xam Time efficiently</a:t>
            </a:r>
          </a:p>
          <a:p>
            <a:pPr marL="0" indent="0" defTabSz="478790">
              <a:spcBef>
                <a:spcPts val="3400"/>
              </a:spcBef>
              <a:buSzTx/>
              <a:buNone/>
              <a:defRPr sz="2551">
                <a:latin typeface="Poppins Light"/>
                <a:ea typeface="Poppins Light"/>
                <a:cs typeface="Poppins Light"/>
                <a:sym typeface="Poppins Light"/>
              </a:defRPr>
            </a:pPr>
            <a:r>
              <a:rPr>
                <a:solidFill>
                  <a:srgbClr val="5E5E5E"/>
                </a:solidFill>
              </a:rPr>
              <a:t>8.</a:t>
            </a:r>
            <a:r>
              <a:t> </a:t>
            </a:r>
            <a:r>
              <a:rPr>
                <a:latin typeface="Poppins Black"/>
                <a:ea typeface="Poppins Black"/>
                <a:cs typeface="Poppins Black"/>
                <a:sym typeface="Poppins Black"/>
              </a:rPr>
              <a:t>Boost </a:t>
            </a:r>
            <a:r>
              <a:rPr>
                <a:solidFill>
                  <a:srgbClr val="5E5E5E"/>
                </a:solidFill>
              </a:rPr>
              <a:t>Your Exam Confidence</a:t>
            </a:r>
          </a:p>
        </p:txBody>
      </p:sp>
      <p:pic>
        <p:nvPicPr>
          <p:cNvPr id="164"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
        <p:nvSpPr>
          <p:cNvPr id="165" name="Slide Number"/>
          <p:cNvSpPr txBox="1"/>
          <p:nvPr>
            <p:ph type="sldNum" sz="quarter" idx="4294967295"/>
          </p:nvPr>
        </p:nvSpPr>
        <p:spPr>
          <a:xfrm>
            <a:off x="12066219" y="13081000"/>
            <a:ext cx="238862" cy="398779"/>
          </a:xfrm>
          <a:prstGeom prst="rect">
            <a:avLst/>
          </a:prstGeom>
          <a:extLst>
            <a:ext uri="{C572A759-6A51-4108-AA02-DFA0A04FC94B}">
              <ma14:wrappingTextBoxFlag xmlns:ma14="http://schemas.microsoft.com/office/mac/drawingml/2011/main" val="1"/>
            </a:ext>
          </a:extLst>
        </p:spPr>
        <p:txBody>
          <a:bodyPr/>
          <a:lstStyle>
            <a:lvl1pPr>
              <a:defRPr sz="1600">
                <a:solidFill>
                  <a:srgbClr val="5E5E5E"/>
                </a:solidFill>
                <a:latin typeface="Poppins Light"/>
                <a:ea typeface="Poppins Light"/>
                <a:cs typeface="Poppins Light"/>
                <a:sym typeface="Poppins Light"/>
              </a:defRPr>
            </a:lvl1p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9" name="Day_1_Slide_5.png" descr="Day_1_Slide_5.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70" name="Course Requirements"/>
          <p:cNvSpPr txBox="1"/>
          <p:nvPr>
            <p:ph type="title"/>
          </p:nvPr>
        </p:nvSpPr>
        <p:spPr>
          <a:prstGeom prst="rect">
            <a:avLst/>
          </a:prstGeom>
        </p:spPr>
        <p:txBody>
          <a:bodyPr/>
          <a:lstStyle>
            <a:lvl1pPr algn="l">
              <a:defRPr>
                <a:solidFill>
                  <a:srgbClr val="531B93"/>
                </a:solidFill>
                <a:latin typeface="Poppins Black"/>
                <a:ea typeface="Poppins Black"/>
                <a:cs typeface="Poppins Black"/>
                <a:sym typeface="Poppins Black"/>
              </a:defRPr>
            </a:lvl1pPr>
          </a:lstStyle>
          <a:p>
            <a:pPr/>
            <a:r>
              <a:t>Course Requirements</a:t>
            </a:r>
          </a:p>
        </p:txBody>
      </p:sp>
      <p:sp>
        <p:nvSpPr>
          <p:cNvPr id="171" name="✅ PMP Exam Eligibility…"/>
          <p:cNvSpPr txBox="1"/>
          <p:nvPr>
            <p:ph type="body" sz="half" idx="1"/>
          </p:nvPr>
        </p:nvSpPr>
        <p:spPr>
          <a:xfrm>
            <a:off x="1689100" y="3149600"/>
            <a:ext cx="10223500" cy="8517360"/>
          </a:xfrm>
          <a:prstGeom prst="rect">
            <a:avLst/>
          </a:prstGeom>
        </p:spPr>
        <p:txBody>
          <a:bodyPr/>
          <a:lstStyle/>
          <a:p>
            <a:pPr marL="0" indent="0" defTabSz="470534">
              <a:lnSpc>
                <a:spcPct val="80000"/>
              </a:lnSpc>
              <a:spcBef>
                <a:spcPts val="3300"/>
              </a:spcBef>
              <a:buSzTx/>
              <a:buNone/>
              <a:defRPr sz="2736">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PMP Exam Eligibility</a:t>
            </a:r>
            <a:endParaRPr>
              <a:solidFill>
                <a:srgbClr val="FFFFFF"/>
              </a:solidFill>
            </a:endParaRP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Meet PMI's education and experience requirements</a:t>
            </a: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Verify before starting</a:t>
            </a:r>
          </a:p>
          <a:p>
            <a:pPr marL="0" indent="0" defTabSz="470534">
              <a:lnSpc>
                <a:spcPct val="80000"/>
              </a:lnSpc>
              <a:spcBef>
                <a:spcPts val="3300"/>
              </a:spcBef>
              <a:buSzTx/>
              <a:buNone/>
              <a:defRPr sz="2736">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Basic Project Management Knowledge</a:t>
            </a:r>
            <a:endParaRPr>
              <a:solidFill>
                <a:srgbClr val="FFFFFF"/>
              </a:solidFill>
            </a:endParaRP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Foundational understanding expected</a:t>
            </a: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Familiarity with PM terminology</a:t>
            </a:r>
          </a:p>
          <a:p>
            <a:pPr marL="0" indent="0" defTabSz="470534">
              <a:lnSpc>
                <a:spcPct val="80000"/>
              </a:lnSpc>
              <a:spcBef>
                <a:spcPts val="3300"/>
              </a:spcBef>
              <a:buSzTx/>
              <a:buNone/>
              <a:defRPr sz="2736">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Commitment to Study</a:t>
            </a:r>
            <a:endParaRPr>
              <a:solidFill>
                <a:srgbClr val="FFFFFF"/>
              </a:solidFill>
            </a:endParaRP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10-15 hours per week recommended</a:t>
            </a: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Consistent daily practice</a:t>
            </a:r>
          </a:p>
          <a:p>
            <a:pPr marL="0" indent="0" defTabSz="470534">
              <a:lnSpc>
                <a:spcPct val="80000"/>
              </a:lnSpc>
              <a:spcBef>
                <a:spcPts val="3300"/>
              </a:spcBef>
              <a:buSzTx/>
              <a:buNone/>
              <a:defRPr sz="2736">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Desire to Pass</a:t>
            </a:r>
            <a:endParaRPr>
              <a:solidFill>
                <a:srgbClr val="FFFFFF"/>
              </a:solidFill>
            </a:endParaRP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Strong motivation is key</a:t>
            </a:r>
          </a:p>
          <a:p>
            <a:pPr lvl="1" marL="723900" indent="-361950" defTabSz="470534">
              <a:lnSpc>
                <a:spcPct val="80000"/>
              </a:lnSpc>
              <a:spcBef>
                <a:spcPts val="1800"/>
              </a:spcBef>
              <a:defRPr sz="2736">
                <a:solidFill>
                  <a:srgbClr val="5E5E5E"/>
                </a:solidFill>
                <a:latin typeface="Poppins Light"/>
                <a:ea typeface="Poppins Light"/>
                <a:cs typeface="Poppins Light"/>
                <a:sym typeface="Poppins Light"/>
              </a:defRPr>
            </a:pPr>
            <a:r>
              <a:t>Clear career goals</a:t>
            </a:r>
          </a:p>
        </p:txBody>
      </p:sp>
      <p:pic>
        <p:nvPicPr>
          <p:cNvPr id="172"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
        <p:nvSpPr>
          <p:cNvPr id="173" name="Slide Number"/>
          <p:cNvSpPr txBox="1"/>
          <p:nvPr>
            <p:ph type="sldNum" sz="quarter" idx="4294967295"/>
          </p:nvPr>
        </p:nvSpPr>
        <p:spPr>
          <a:xfrm>
            <a:off x="12065812" y="13081000"/>
            <a:ext cx="239676" cy="398779"/>
          </a:xfrm>
          <a:prstGeom prst="rect">
            <a:avLst/>
          </a:prstGeom>
          <a:extLst>
            <a:ext uri="{C572A759-6A51-4108-AA02-DFA0A04FC94B}">
              <ma14:wrappingTextBoxFlag xmlns:ma14="http://schemas.microsoft.com/office/mac/drawingml/2011/main" val="1"/>
            </a:ext>
          </a:extLst>
        </p:spPr>
        <p:txBody>
          <a:bodyPr/>
          <a:lstStyle>
            <a:lvl1pPr>
              <a:defRPr sz="1600">
                <a:solidFill>
                  <a:srgbClr val="5E5E5E"/>
                </a:solidFill>
                <a:latin typeface="Poppins Light"/>
                <a:ea typeface="Poppins Light"/>
                <a:cs typeface="Poppins Light"/>
                <a:sym typeface="Poppins Light"/>
              </a:defRPr>
            </a:lvl1p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7" name="_- visual selection.png" descr="_- visual selection.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78" name="Exam Domain Breakdown"/>
          <p:cNvSpPr txBox="1"/>
          <p:nvPr>
            <p:ph type="title"/>
          </p:nvPr>
        </p:nvSpPr>
        <p:spPr>
          <a:prstGeom prst="rect">
            <a:avLst/>
          </a:prstGeom>
        </p:spPr>
        <p:txBody>
          <a:bodyPr/>
          <a:lstStyle>
            <a:lvl1pPr algn="l">
              <a:defRPr>
                <a:solidFill>
                  <a:srgbClr val="531B93"/>
                </a:solidFill>
                <a:latin typeface="Poppins Black"/>
                <a:ea typeface="Poppins Black"/>
                <a:cs typeface="Poppins Black"/>
                <a:sym typeface="Poppins Black"/>
              </a:defRPr>
            </a:lvl1pPr>
          </a:lstStyle>
          <a:p>
            <a:pPr/>
            <a:r>
              <a:t>Exam Domain Breakdown</a:t>
            </a:r>
          </a:p>
        </p:txBody>
      </p:sp>
      <p:sp>
        <p:nvSpPr>
          <p:cNvPr id="179" name="PMP® Exam Domains…"/>
          <p:cNvSpPr txBox="1"/>
          <p:nvPr>
            <p:ph type="body" sz="half" idx="1"/>
          </p:nvPr>
        </p:nvSpPr>
        <p:spPr>
          <a:prstGeom prst="rect">
            <a:avLst/>
          </a:prstGeom>
        </p:spPr>
        <p:txBody>
          <a:bodyPr/>
          <a:lstStyle/>
          <a:p>
            <a:pPr marL="0" indent="0" defTabSz="330200">
              <a:spcBef>
                <a:spcPts val="2300"/>
              </a:spcBef>
              <a:buSzTx/>
              <a:buNone/>
              <a:defRPr cap="all" sz="2800">
                <a:latin typeface="Poppins Black"/>
                <a:ea typeface="Poppins Black"/>
                <a:cs typeface="Poppins Black"/>
                <a:sym typeface="Poppins Black"/>
              </a:defRPr>
            </a:pPr>
            <a:r>
              <a:t>PMP® Exam Domains</a:t>
            </a:r>
          </a:p>
          <a:p>
            <a:pPr marL="0" indent="0" defTabSz="330200">
              <a:spcBef>
                <a:spcPts val="2300"/>
              </a:spcBef>
              <a:buSzTx/>
              <a:buNone/>
              <a:defRPr sz="1920">
                <a:latin typeface="Poppins Black"/>
                <a:ea typeface="Poppins Black"/>
                <a:cs typeface="Poppins Black"/>
                <a:sym typeface="Poppins Black"/>
              </a:defRPr>
            </a:pPr>
            <a:r>
              <a:t>🟢 PEOPLE: 42% </a:t>
            </a:r>
            <a:r>
              <a:rPr>
                <a:solidFill>
                  <a:srgbClr val="5E5E5E"/>
                </a:solidFill>
                <a:latin typeface="Poppins Light"/>
                <a:ea typeface="Poppins Light"/>
                <a:cs typeface="Poppins Light"/>
                <a:sym typeface="Poppins Light"/>
              </a:rPr>
              <a:t>(</a:t>
            </a:r>
            <a:r>
              <a:rPr>
                <a:latin typeface="Poppins Light"/>
                <a:ea typeface="Poppins Light"/>
                <a:cs typeface="Poppins Light"/>
                <a:sym typeface="Poppins Light"/>
              </a:rPr>
              <a:t>~76 questions)</a:t>
            </a:r>
          </a:p>
          <a:p>
            <a:pPr marL="0" indent="0" defTabSz="330200">
              <a:spcBef>
                <a:spcPts val="600"/>
              </a:spcBef>
              <a:buSzTx/>
              <a:buNone/>
              <a:defRPr sz="1920">
                <a:solidFill>
                  <a:srgbClr val="5E5E5E"/>
                </a:solidFill>
                <a:latin typeface="Poppins Light"/>
                <a:ea typeface="Poppins Light"/>
                <a:cs typeface="Poppins Light"/>
                <a:sym typeface="Poppins Light"/>
              </a:defRPr>
            </a:pPr>
            <a:r>
              <a:t>- Managing and leading project teams</a:t>
            </a:r>
          </a:p>
          <a:p>
            <a:pPr marL="0" indent="0" defTabSz="330200">
              <a:spcBef>
                <a:spcPts val="600"/>
              </a:spcBef>
              <a:buSzTx/>
              <a:buNone/>
              <a:defRPr sz="1920">
                <a:solidFill>
                  <a:srgbClr val="5E5E5E"/>
                </a:solidFill>
                <a:latin typeface="Poppins Light"/>
                <a:ea typeface="Poppins Light"/>
                <a:cs typeface="Poppins Light"/>
                <a:sym typeface="Poppins Light"/>
              </a:defRPr>
            </a:pPr>
            <a:r>
              <a:t>- Supporting team performance</a:t>
            </a:r>
          </a:p>
          <a:p>
            <a:pPr marL="0" indent="0" defTabSz="330200">
              <a:spcBef>
                <a:spcPts val="600"/>
              </a:spcBef>
              <a:buSzTx/>
              <a:buNone/>
              <a:defRPr sz="1920">
                <a:solidFill>
                  <a:srgbClr val="5E5E5E"/>
                </a:solidFill>
                <a:latin typeface="Poppins Light"/>
                <a:ea typeface="Poppins Light"/>
                <a:cs typeface="Poppins Light"/>
                <a:sym typeface="Poppins Light"/>
              </a:defRPr>
            </a:pPr>
            <a:r>
              <a:t>- Empowering team members and stakeholders</a:t>
            </a:r>
          </a:p>
          <a:p>
            <a:pPr marL="0" indent="0" defTabSz="330200">
              <a:spcBef>
                <a:spcPts val="600"/>
              </a:spcBef>
              <a:buSzTx/>
              <a:buNone/>
              <a:defRPr sz="1920">
                <a:solidFill>
                  <a:srgbClr val="5E5E5E"/>
                </a:solidFill>
                <a:latin typeface="Poppins Light"/>
                <a:ea typeface="Poppins Light"/>
                <a:cs typeface="Poppins Light"/>
                <a:sym typeface="Poppins Light"/>
              </a:defRPr>
            </a:pPr>
            <a:r>
              <a:t>- Managing conflict and fostering collaboration</a:t>
            </a:r>
          </a:p>
          <a:p>
            <a:pPr marL="0" indent="0" defTabSz="330200">
              <a:spcBef>
                <a:spcPts val="2300"/>
              </a:spcBef>
              <a:buSzTx/>
              <a:buNone/>
              <a:defRPr sz="1920">
                <a:latin typeface="Poppins Black"/>
                <a:ea typeface="Poppins Black"/>
                <a:cs typeface="Poppins Black"/>
                <a:sym typeface="Poppins Black"/>
              </a:defRPr>
            </a:pPr>
            <a:r>
              <a:t>🔵 PROCESS: 50% </a:t>
            </a:r>
            <a:r>
              <a:rPr>
                <a:latin typeface="Poppins Light"/>
                <a:ea typeface="Poppins Light"/>
                <a:cs typeface="Poppins Light"/>
                <a:sym typeface="Poppins Light"/>
              </a:rPr>
              <a:t>(~90 questions)</a:t>
            </a:r>
          </a:p>
          <a:p>
            <a:pPr marL="0" indent="0" defTabSz="330200">
              <a:spcBef>
                <a:spcPts val="600"/>
              </a:spcBef>
              <a:buSzTx/>
              <a:buNone/>
              <a:defRPr sz="1920">
                <a:solidFill>
                  <a:srgbClr val="5E5E5E"/>
                </a:solidFill>
                <a:latin typeface="Poppins Light"/>
                <a:ea typeface="Poppins Light"/>
                <a:cs typeface="Poppins Light"/>
                <a:sym typeface="Poppins Light"/>
              </a:defRPr>
            </a:pPr>
            <a:r>
              <a:t>- Planning, executing, and closing projects</a:t>
            </a:r>
          </a:p>
          <a:p>
            <a:pPr marL="0" indent="0" defTabSz="330200">
              <a:spcBef>
                <a:spcPts val="600"/>
              </a:spcBef>
              <a:buSzTx/>
              <a:buNone/>
              <a:defRPr sz="1920">
                <a:solidFill>
                  <a:srgbClr val="5E5E5E"/>
                </a:solidFill>
                <a:latin typeface="Poppins Light"/>
                <a:ea typeface="Poppins Light"/>
                <a:cs typeface="Poppins Light"/>
                <a:sym typeface="Poppins Light"/>
              </a:defRPr>
            </a:pPr>
            <a:r>
              <a:t>- Managing project changes and scope</a:t>
            </a:r>
          </a:p>
          <a:p>
            <a:pPr marL="0" indent="0" defTabSz="330200">
              <a:spcBef>
                <a:spcPts val="600"/>
              </a:spcBef>
              <a:buSzTx/>
              <a:buNone/>
              <a:defRPr sz="1920">
                <a:solidFill>
                  <a:srgbClr val="5E5E5E"/>
                </a:solidFill>
                <a:latin typeface="Poppins Light"/>
                <a:ea typeface="Poppins Light"/>
                <a:cs typeface="Poppins Light"/>
                <a:sym typeface="Poppins Light"/>
              </a:defRPr>
            </a:pPr>
            <a:r>
              <a:t>- Optimizing project performance</a:t>
            </a:r>
          </a:p>
          <a:p>
            <a:pPr marL="0" indent="0" defTabSz="330200">
              <a:spcBef>
                <a:spcPts val="600"/>
              </a:spcBef>
              <a:buSzTx/>
              <a:buNone/>
              <a:defRPr sz="1920">
                <a:solidFill>
                  <a:srgbClr val="5E5E5E"/>
                </a:solidFill>
                <a:latin typeface="Poppins Light"/>
                <a:ea typeface="Poppins Light"/>
                <a:cs typeface="Poppins Light"/>
                <a:sym typeface="Poppins Light"/>
              </a:defRPr>
            </a:pPr>
            <a:r>
              <a:t>- Integrating project planning activities</a:t>
            </a:r>
          </a:p>
          <a:p>
            <a:pPr marL="0" indent="0" defTabSz="330200">
              <a:spcBef>
                <a:spcPts val="2300"/>
              </a:spcBef>
              <a:buSzTx/>
              <a:buNone/>
              <a:defRPr sz="1920">
                <a:latin typeface="Poppins Black"/>
                <a:ea typeface="Poppins Black"/>
                <a:cs typeface="Poppins Black"/>
                <a:sym typeface="Poppins Black"/>
              </a:defRPr>
            </a:pPr>
            <a:r>
              <a:t>🟠 BUSINESS ENVIRONMENT: 8% </a:t>
            </a:r>
            <a:r>
              <a:rPr>
                <a:latin typeface="Poppins Light"/>
                <a:ea typeface="Poppins Light"/>
                <a:cs typeface="Poppins Light"/>
                <a:sym typeface="Poppins Light"/>
              </a:rPr>
              <a:t>(~14 questions)</a:t>
            </a:r>
          </a:p>
          <a:p>
            <a:pPr marL="0" indent="0" defTabSz="330200">
              <a:spcBef>
                <a:spcPts val="600"/>
              </a:spcBef>
              <a:buSzTx/>
              <a:buNone/>
              <a:defRPr sz="1920">
                <a:solidFill>
                  <a:srgbClr val="5E5E5E"/>
                </a:solidFill>
                <a:latin typeface="Poppins Light"/>
                <a:ea typeface="Poppins Light"/>
                <a:cs typeface="Poppins Light"/>
                <a:sym typeface="Poppins Light"/>
              </a:defRPr>
            </a:pPr>
            <a:r>
              <a:t>- Planning and managing project compliance</a:t>
            </a:r>
          </a:p>
          <a:p>
            <a:pPr marL="0" indent="0" defTabSz="330200">
              <a:spcBef>
                <a:spcPts val="600"/>
              </a:spcBef>
              <a:buSzTx/>
              <a:buNone/>
              <a:defRPr sz="1920">
                <a:solidFill>
                  <a:srgbClr val="5E5E5E"/>
                </a:solidFill>
                <a:latin typeface="Poppins Light"/>
                <a:ea typeface="Poppins Light"/>
                <a:cs typeface="Poppins Light"/>
                <a:sym typeface="Poppins Light"/>
              </a:defRPr>
            </a:pPr>
            <a:r>
              <a:t>- Evaluating and delivering project benefits</a:t>
            </a:r>
          </a:p>
          <a:p>
            <a:pPr marL="0" indent="0" defTabSz="330200">
              <a:spcBef>
                <a:spcPts val="600"/>
              </a:spcBef>
              <a:buSzTx/>
              <a:buNone/>
              <a:defRPr sz="1920">
                <a:solidFill>
                  <a:srgbClr val="5E5E5E"/>
                </a:solidFill>
                <a:latin typeface="Poppins Light"/>
                <a:ea typeface="Poppins Light"/>
                <a:cs typeface="Poppins Light"/>
                <a:sym typeface="Poppins Light"/>
              </a:defRPr>
            </a:pPr>
            <a:r>
              <a:t>- Supporting organizational change</a:t>
            </a:r>
          </a:p>
          <a:p>
            <a:pPr marL="0" indent="0" defTabSz="330200">
              <a:spcBef>
                <a:spcPts val="600"/>
              </a:spcBef>
              <a:buSzTx/>
              <a:buNone/>
              <a:defRPr sz="1920">
                <a:solidFill>
                  <a:srgbClr val="5E5E5E"/>
                </a:solidFill>
                <a:latin typeface="Poppins Light"/>
                <a:ea typeface="Poppins Light"/>
                <a:cs typeface="Poppins Light"/>
                <a:sym typeface="Poppins Light"/>
              </a:defRPr>
            </a:pPr>
            <a:r>
              <a:t>- Ensuring knowledge transfer for continuity</a:t>
            </a:r>
          </a:p>
          <a:p>
            <a:pPr marL="0" indent="0" defTabSz="330200">
              <a:spcBef>
                <a:spcPts val="2300"/>
              </a:spcBef>
              <a:buSzTx/>
              <a:buNone/>
              <a:defRPr sz="1920">
                <a:latin typeface="Poppins Regular"/>
                <a:ea typeface="Poppins Regular"/>
                <a:cs typeface="Poppins Regular"/>
                <a:sym typeface="Poppins Regular"/>
              </a:defRPr>
            </a:pPr>
          </a:p>
        </p:txBody>
      </p:sp>
      <p:sp>
        <p:nvSpPr>
          <p:cNvPr id="180" name="Slide Number"/>
          <p:cNvSpPr txBox="1"/>
          <p:nvPr>
            <p:ph type="sldNum" sz="quarter" idx="4294967295"/>
          </p:nvPr>
        </p:nvSpPr>
        <p:spPr>
          <a:xfrm>
            <a:off x="12068016" y="13081000"/>
            <a:ext cx="235268" cy="374649"/>
          </a:xfrm>
          <a:prstGeom prst="rect">
            <a:avLst/>
          </a:prstGeom>
          <a:extLst>
            <a:ext uri="{C572A759-6A51-4108-AA02-DFA0A04FC94B}">
              <ma14:wrappingTextBoxFlag xmlns:ma14="http://schemas.microsoft.com/office/mac/drawingml/2011/main" val="1"/>
            </a:ext>
          </a:extLst>
        </p:spPr>
        <p:txBody>
          <a:bodyPr/>
          <a:lstStyle>
            <a:lvl1pPr>
              <a:defRPr sz="1500">
                <a:solidFill>
                  <a:srgbClr val="5E5E5E"/>
                </a:solidFill>
                <a:latin typeface="Poppins Regular"/>
                <a:ea typeface="Poppins Regular"/>
                <a:cs typeface="Poppins Regular"/>
                <a:sym typeface="Poppins Regular"/>
              </a:defRPr>
            </a:lvl1pPr>
          </a:lstStyle>
          <a:p>
            <a:pPr/>
            <a:fld id="{86CB4B4D-7CA3-9044-876B-883B54F8677D}" type="slidenum"/>
          </a:p>
        </p:txBody>
      </p:sp>
      <p:pic>
        <p:nvPicPr>
          <p:cNvPr id="181"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5" name="Gemini_Generated_Image_40r1gh40r1gh40r1.png" descr="Gemini_Generated_Image_40r1gh40r1gh40r1.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86" name="Exam Format &amp; Logistics"/>
          <p:cNvSpPr txBox="1"/>
          <p:nvPr>
            <p:ph type="title"/>
          </p:nvPr>
        </p:nvSpPr>
        <p:spPr>
          <a:prstGeom prst="rect">
            <a:avLst/>
          </a:prstGeom>
        </p:spPr>
        <p:txBody>
          <a:bodyPr/>
          <a:lstStyle>
            <a:lvl1pPr algn="l">
              <a:defRPr>
                <a:solidFill>
                  <a:srgbClr val="531B93"/>
                </a:solidFill>
                <a:latin typeface="Poppins Black"/>
                <a:ea typeface="Poppins Black"/>
                <a:cs typeface="Poppins Black"/>
                <a:sym typeface="Poppins Black"/>
              </a:defRPr>
            </a:lvl1pPr>
          </a:lstStyle>
          <a:p>
            <a:pPr/>
            <a:r>
              <a:t>Exam Format &amp; Logistics</a:t>
            </a:r>
          </a:p>
        </p:txBody>
      </p:sp>
      <p:sp>
        <p:nvSpPr>
          <p:cNvPr id="187" name="📝 180 Questions Total…"/>
          <p:cNvSpPr txBox="1"/>
          <p:nvPr>
            <p:ph type="body" sz="half" idx="1"/>
          </p:nvPr>
        </p:nvSpPr>
        <p:spPr>
          <a:xfrm>
            <a:off x="1689100" y="3149600"/>
            <a:ext cx="10223500" cy="8378495"/>
          </a:xfrm>
          <a:prstGeom prst="rect">
            <a:avLst/>
          </a:prstGeom>
        </p:spPr>
        <p:txBody>
          <a:bodyPr/>
          <a:lstStyle/>
          <a:p>
            <a:pPr marL="0" indent="0" defTabSz="338454">
              <a:spcBef>
                <a:spcPts val="2400"/>
              </a:spcBef>
              <a:buSzTx/>
              <a:buNone/>
              <a:defRPr sz="1968">
                <a:latin typeface="Poppins Black"/>
                <a:ea typeface="Poppins Black"/>
                <a:cs typeface="Poppins Black"/>
                <a:sym typeface="Poppins Black"/>
              </a:defRPr>
            </a:pPr>
            <a:r>
              <a:rPr>
                <a:solidFill>
                  <a:srgbClr val="FFFFFF"/>
                </a:solidFill>
              </a:rPr>
              <a:t>📝 </a:t>
            </a:r>
            <a:r>
              <a:t>180 Questions Total</a:t>
            </a:r>
            <a:endParaRPr>
              <a:solidFill>
                <a:srgbClr val="FFFFFF"/>
              </a:solidFill>
            </a:endParaRP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Mix of all three domains</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Various question types</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Some are pretest (unscored)</a:t>
            </a:r>
          </a:p>
          <a:p>
            <a:pPr marL="0" indent="0" defTabSz="338454">
              <a:spcBef>
                <a:spcPts val="2400"/>
              </a:spcBef>
              <a:buSzTx/>
              <a:buNone/>
              <a:defRPr sz="1968">
                <a:latin typeface="Poppins Regular"/>
                <a:ea typeface="Poppins Regular"/>
                <a:cs typeface="Poppins Regular"/>
                <a:sym typeface="Poppins Regular"/>
              </a:defRPr>
            </a:pPr>
            <a:r>
              <a:rPr>
                <a:solidFill>
                  <a:srgbClr val="FFFFFF"/>
                </a:solidFill>
              </a:rPr>
              <a:t>⏱️ </a:t>
            </a:r>
            <a:r>
              <a:rPr>
                <a:latin typeface="Poppins Black"/>
                <a:ea typeface="Poppins Black"/>
                <a:cs typeface="Poppins Black"/>
                <a:sym typeface="Poppins Black"/>
              </a:rPr>
              <a:t>230 Minutes (3 hours 50 minutes)</a:t>
            </a:r>
            <a:endParaRPr>
              <a:solidFill>
                <a:srgbClr val="FFFFFF"/>
              </a:solidFill>
            </a:endParaRP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Approximately 1.3 minutes per question</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Time management is critical</a:t>
            </a:r>
          </a:p>
          <a:p>
            <a:pPr marL="0" indent="0" defTabSz="338454">
              <a:spcBef>
                <a:spcPts val="2400"/>
              </a:spcBef>
              <a:buSzTx/>
              <a:buNone/>
              <a:defRPr sz="1968">
                <a:latin typeface="Poppins Black"/>
                <a:ea typeface="Poppins Black"/>
                <a:cs typeface="Poppins Black"/>
                <a:sym typeface="Poppins Black"/>
              </a:defRPr>
            </a:pPr>
            <a:r>
              <a:rPr>
                <a:solidFill>
                  <a:srgbClr val="FFFFFF"/>
                </a:solidFill>
              </a:rPr>
              <a:t>☕ </a:t>
            </a:r>
            <a:r>
              <a:t>Two 10-Minute Breaks</a:t>
            </a:r>
            <a:endParaRPr>
              <a:solidFill>
                <a:srgbClr val="FFFFFF"/>
              </a:solidFill>
            </a:endParaRP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After question 60 (optional)</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After question 120 (optional)</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Use them strategically</a:t>
            </a:r>
          </a:p>
          <a:p>
            <a:pPr marL="0" indent="0" defTabSz="338454">
              <a:spcBef>
                <a:spcPts val="2400"/>
              </a:spcBef>
              <a:buSzTx/>
              <a:buNone/>
              <a:defRPr sz="1968">
                <a:latin typeface="Poppins Black"/>
                <a:ea typeface="Poppins Black"/>
                <a:cs typeface="Poppins Black"/>
                <a:sym typeface="Poppins Black"/>
              </a:defRPr>
            </a:pPr>
            <a:r>
              <a:rPr>
                <a:solidFill>
                  <a:srgbClr val="FFFFFF"/>
                </a:solidFill>
              </a:rPr>
              <a:t>⚠️ </a:t>
            </a:r>
            <a:r>
              <a:t>**Important Notes:**</a:t>
            </a:r>
            <a:endParaRPr>
              <a:solidFill>
                <a:srgbClr val="FFFFFF"/>
              </a:solidFill>
            </a:endParaRP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Computer-based testing</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No materials allowed</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Calculator provided on screen</a:t>
            </a:r>
          </a:p>
          <a:p>
            <a:pPr marL="0" indent="0" defTabSz="338454">
              <a:lnSpc>
                <a:spcPct val="80000"/>
              </a:lnSpc>
              <a:spcBef>
                <a:spcPts val="1300"/>
              </a:spcBef>
              <a:buSzTx/>
              <a:buNone/>
              <a:defRPr sz="1968">
                <a:solidFill>
                  <a:srgbClr val="5E5E5E"/>
                </a:solidFill>
                <a:latin typeface="Poppins Light"/>
                <a:ea typeface="Poppins Light"/>
                <a:cs typeface="Poppins Light"/>
                <a:sym typeface="Poppins Light"/>
              </a:defRPr>
            </a:pPr>
            <a:r>
              <a:t>- Tutorial time doesn't count against you</a:t>
            </a:r>
          </a:p>
        </p:txBody>
      </p:sp>
      <p:sp>
        <p:nvSpPr>
          <p:cNvPr id="188" name="Slide Number"/>
          <p:cNvSpPr txBox="1"/>
          <p:nvPr>
            <p:ph type="sldNum" sz="quarter" idx="4294967295"/>
          </p:nvPr>
        </p:nvSpPr>
        <p:spPr>
          <a:xfrm>
            <a:off x="12076493" y="13081000"/>
            <a:ext cx="218314" cy="374649"/>
          </a:xfrm>
          <a:prstGeom prst="rect">
            <a:avLst/>
          </a:prstGeom>
          <a:extLst>
            <a:ext uri="{C572A759-6A51-4108-AA02-DFA0A04FC94B}">
              <ma14:wrappingTextBoxFlag xmlns:ma14="http://schemas.microsoft.com/office/mac/drawingml/2011/main" val="1"/>
            </a:ext>
          </a:extLst>
        </p:spPr>
        <p:txBody>
          <a:bodyPr/>
          <a:lstStyle>
            <a:lvl1pPr>
              <a:defRPr sz="1500">
                <a:solidFill>
                  <a:srgbClr val="5E5E5E"/>
                </a:solidFill>
                <a:latin typeface="Poppins Regular"/>
                <a:ea typeface="Poppins Regular"/>
                <a:cs typeface="Poppins Regular"/>
                <a:sym typeface="Poppins Regular"/>
              </a:defRPr>
            </a:lvl1pPr>
          </a:lstStyle>
          <a:p>
            <a:pPr/>
            <a:fld id="{86CB4B4D-7CA3-9044-876B-883B54F8677D}" type="slidenum"/>
          </a:p>
        </p:txBody>
      </p:sp>
      <p:pic>
        <p:nvPicPr>
          <p:cNvPr id="189"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3" name="Day_1_Slide_5.png" descr="Day_1_Slide_5.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194" name="Question Types You’ll Encounter"/>
          <p:cNvSpPr txBox="1"/>
          <p:nvPr>
            <p:ph type="title"/>
          </p:nvPr>
        </p:nvSpPr>
        <p:spPr>
          <a:prstGeom prst="rect">
            <a:avLst/>
          </a:prstGeom>
        </p:spPr>
        <p:txBody>
          <a:bodyPr/>
          <a:lstStyle>
            <a:lvl1pPr defTabSz="709930">
              <a:defRPr sz="9632">
                <a:solidFill>
                  <a:srgbClr val="531B93"/>
                </a:solidFill>
                <a:latin typeface="Poppins Black"/>
                <a:ea typeface="Poppins Black"/>
                <a:cs typeface="Poppins Black"/>
                <a:sym typeface="Poppins Black"/>
              </a:defRPr>
            </a:lvl1pPr>
          </a:lstStyle>
          <a:p>
            <a:pPr/>
            <a:r>
              <a:t>Question Types You’ll Encounter</a:t>
            </a:r>
          </a:p>
        </p:txBody>
      </p:sp>
      <p:sp>
        <p:nvSpPr>
          <p:cNvPr id="195" name="Question Types You'll Encounter…"/>
          <p:cNvSpPr txBox="1"/>
          <p:nvPr>
            <p:ph type="body" sz="half" idx="1"/>
          </p:nvPr>
        </p:nvSpPr>
        <p:spPr>
          <a:xfrm>
            <a:off x="1689100" y="3149600"/>
            <a:ext cx="10420747" cy="8967788"/>
          </a:xfrm>
          <a:prstGeom prst="rect">
            <a:avLst/>
          </a:prstGeom>
        </p:spPr>
        <p:txBody>
          <a:bodyPr numCol="2" spcCol="521037"/>
          <a:lstStyle/>
          <a:p>
            <a:pPr marL="0" indent="0" defTabSz="379729">
              <a:spcBef>
                <a:spcPts val="2700"/>
              </a:spcBef>
              <a:buSzTx/>
              <a:buNone/>
              <a:defRPr cap="all" sz="2070">
                <a:latin typeface="Poppins Black"/>
                <a:ea typeface="Poppins Black"/>
                <a:cs typeface="Poppins Black"/>
                <a:sym typeface="Poppins Black"/>
              </a:defRPr>
            </a:pPr>
            <a:r>
              <a:t>Question Types You'll Encounter</a:t>
            </a:r>
          </a:p>
          <a:p>
            <a:pPr marL="0" indent="0" defTabSz="379729">
              <a:spcBef>
                <a:spcPts val="2700"/>
              </a:spcBef>
              <a:buSzTx/>
              <a:buNone/>
              <a:defRPr sz="2070">
                <a:latin typeface="Poppins Black"/>
                <a:ea typeface="Poppins Black"/>
                <a:cs typeface="Poppins Black"/>
                <a:sym typeface="Poppins Black"/>
              </a:defRPr>
            </a:pPr>
            <a:r>
              <a:t> 1️⃣ Multiple Choice (Most Common)</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Select ONE best answer from 4 options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Usually scenario-based</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a:t>
            </a:r>
            <a:r>
              <a:rPr>
                <a:latin typeface="Poppins Bold"/>
                <a:ea typeface="Poppins Bold"/>
                <a:cs typeface="Poppins Bold"/>
                <a:sym typeface="Poppins Bold"/>
              </a:rPr>
              <a:t>Strategy: </a:t>
            </a:r>
            <a:r>
              <a:t>Eliminate obviously wrong answers first</a:t>
            </a:r>
          </a:p>
          <a:p>
            <a:pPr marL="0" indent="0" defTabSz="379729">
              <a:spcBef>
                <a:spcPts val="2700"/>
              </a:spcBef>
              <a:buSzTx/>
              <a:buNone/>
              <a:defRPr sz="2070">
                <a:latin typeface="Poppins Black"/>
                <a:ea typeface="Poppins Black"/>
                <a:cs typeface="Poppins Black"/>
                <a:sym typeface="Poppins Black"/>
              </a:defRPr>
            </a:pPr>
            <a:r>
              <a:t> 2️⃣ Multiple Response</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Select ALL correct answers (2-3)</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Question specifies how many to choose</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a:t>
            </a:r>
            <a:r>
              <a:rPr>
                <a:latin typeface="Poppins Bold"/>
                <a:ea typeface="Poppins Bold"/>
                <a:cs typeface="Poppins Bold"/>
                <a:sym typeface="Poppins Bold"/>
              </a:rPr>
              <a:t>Strategy:</a:t>
            </a:r>
            <a:r>
              <a:t> Each option is true/false decision</a:t>
            </a:r>
          </a:p>
          <a:p>
            <a:pPr marL="0" indent="0" defTabSz="379729">
              <a:spcBef>
                <a:spcPts val="2700"/>
              </a:spcBef>
              <a:buSzTx/>
              <a:buNone/>
              <a:defRPr sz="2070">
                <a:latin typeface="Poppins Black"/>
                <a:ea typeface="Poppins Black"/>
                <a:cs typeface="Poppins Black"/>
                <a:sym typeface="Poppins Black"/>
              </a:defRPr>
            </a:pPr>
            <a:r>
              <a:t>3️⃣ Matching</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Connect items from two lists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Common for processes, knowledge areas, tools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a:t>
            </a:r>
            <a:r>
              <a:rPr>
                <a:latin typeface="Poppins Bold"/>
                <a:ea typeface="Poppins Bold"/>
                <a:cs typeface="Poppins Bold"/>
                <a:sym typeface="Poppins Bold"/>
              </a:rPr>
              <a:t>Strategy:</a:t>
            </a:r>
            <a:r>
              <a:t> Start with ones you're certain about</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p>
          <a:p>
            <a:pPr marL="0" indent="0" defTabSz="379729">
              <a:spcBef>
                <a:spcPts val="2700"/>
              </a:spcBef>
              <a:buSzTx/>
              <a:buNone/>
              <a:defRPr sz="2070">
                <a:latin typeface="Poppins Black"/>
                <a:ea typeface="Poppins Black"/>
                <a:cs typeface="Poppins Black"/>
                <a:sym typeface="Poppins Black"/>
              </a:defRPr>
            </a:pPr>
            <a:r>
              <a:t> 4️⃣ Hotspot</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Click on specific areas of graphics/diagrams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Often process flows or organizational charts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a:t>
            </a:r>
            <a:r>
              <a:rPr>
                <a:latin typeface="Poppins Bold"/>
                <a:ea typeface="Poppins Bold"/>
                <a:cs typeface="Poppins Bold"/>
                <a:sym typeface="Poppins Bold"/>
              </a:rPr>
              <a:t>Strategy:</a:t>
            </a:r>
            <a:r>
              <a:t> Understand the visual before clicking</a:t>
            </a:r>
          </a:p>
          <a:p>
            <a:pPr marL="0" indent="0" defTabSz="379729">
              <a:spcBef>
                <a:spcPts val="2700"/>
              </a:spcBef>
              <a:buSzTx/>
              <a:buNone/>
              <a:defRPr sz="2070">
                <a:latin typeface="Poppins Black"/>
                <a:ea typeface="Poppins Black"/>
                <a:cs typeface="Poppins Black"/>
                <a:sym typeface="Poppins Black"/>
              </a:defRPr>
            </a:pPr>
            <a:r>
              <a:t>5️⃣ Fill-in-the-Blank (Less Common)</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Type correct words or phrases</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Usually formulas or specific terminology</a:t>
            </a:r>
          </a:p>
          <a:p>
            <a:pPr marL="0" indent="0" defTabSz="379729">
              <a:lnSpc>
                <a:spcPct val="60000"/>
              </a:lnSpc>
              <a:spcBef>
                <a:spcPts val="1400"/>
              </a:spcBef>
              <a:buSzTx/>
              <a:buNone/>
              <a:defRPr sz="2070">
                <a:solidFill>
                  <a:srgbClr val="5E5E5E"/>
                </a:solidFill>
                <a:latin typeface="Poppins Light"/>
                <a:ea typeface="Poppins Light"/>
                <a:cs typeface="Poppins Light"/>
                <a:sym typeface="Poppins Light"/>
              </a:defRPr>
            </a:pPr>
            <a:r>
              <a:t>- </a:t>
            </a:r>
            <a:r>
              <a:rPr>
                <a:latin typeface="Poppins Bold"/>
                <a:ea typeface="Poppins Bold"/>
                <a:cs typeface="Poppins Bold"/>
                <a:sym typeface="Poppins Bold"/>
              </a:rPr>
              <a:t>Strategy:</a:t>
            </a:r>
            <a:r>
              <a:t> Spelling must be exact</a:t>
            </a:r>
          </a:p>
          <a:p>
            <a:pPr marL="0" indent="0" defTabSz="379729">
              <a:spcBef>
                <a:spcPts val="2700"/>
              </a:spcBef>
              <a:buSzTx/>
              <a:buNone/>
              <a:defRPr sz="2070">
                <a:latin typeface="Poppins Light"/>
                <a:ea typeface="Poppins Light"/>
                <a:cs typeface="Poppins Light"/>
                <a:sym typeface="Poppins Light"/>
              </a:defRPr>
            </a:pPr>
          </a:p>
          <a:p>
            <a:pPr marL="0" indent="0" defTabSz="379729">
              <a:spcBef>
                <a:spcPts val="2700"/>
              </a:spcBef>
              <a:buSzTx/>
              <a:buNone/>
              <a:defRPr sz="2070">
                <a:latin typeface="Poppins Light"/>
                <a:ea typeface="Poppins Light"/>
                <a:cs typeface="Poppins Light"/>
                <a:sym typeface="Poppins Light"/>
              </a:defRPr>
            </a:pPr>
          </a:p>
          <a:p>
            <a:pPr marL="0" indent="0" defTabSz="379729">
              <a:spcBef>
                <a:spcPts val="2700"/>
              </a:spcBef>
              <a:buSzTx/>
              <a:buNone/>
              <a:defRPr sz="2070">
                <a:latin typeface="Poppins Light"/>
                <a:ea typeface="Poppins Light"/>
                <a:cs typeface="Poppins Light"/>
                <a:sym typeface="Poppins Light"/>
              </a:defRPr>
            </a:pPr>
          </a:p>
        </p:txBody>
      </p:sp>
      <p:sp>
        <p:nvSpPr>
          <p:cNvPr id="196" name="Slide Number"/>
          <p:cNvSpPr txBox="1"/>
          <p:nvPr>
            <p:ph type="sldNum" sz="quarter" idx="4294967295"/>
          </p:nvPr>
        </p:nvSpPr>
        <p:spPr>
          <a:xfrm>
            <a:off x="12073026" y="13081000"/>
            <a:ext cx="225248" cy="350519"/>
          </a:xfrm>
          <a:prstGeom prst="rect">
            <a:avLst/>
          </a:prstGeom>
          <a:extLst>
            <a:ext uri="{C572A759-6A51-4108-AA02-DFA0A04FC94B}">
              <ma14:wrappingTextBoxFlag xmlns:ma14="http://schemas.microsoft.com/office/mac/drawingml/2011/main" val="1"/>
            </a:ext>
          </a:extLst>
        </p:spPr>
        <p:txBody>
          <a:bodyPr/>
          <a:lstStyle>
            <a:lvl1pPr>
              <a:defRPr sz="1400">
                <a:solidFill>
                  <a:srgbClr val="929292"/>
                </a:solidFill>
                <a:latin typeface="Poppins Light"/>
                <a:ea typeface="Poppins Light"/>
                <a:cs typeface="Poppins Light"/>
                <a:sym typeface="Poppins Light"/>
              </a:defRPr>
            </a:lvl1pPr>
          </a:lstStyle>
          <a:p>
            <a:pPr/>
            <a:fld id="{86CB4B4D-7CA3-9044-876B-883B54F8677D}" type="slidenum"/>
          </a:p>
        </p:txBody>
      </p:sp>
      <p:pic>
        <p:nvPicPr>
          <p:cNvPr id="197" name="pmp-mastery-framework-mono.png" descr="pmp-mastery-framework-mono.png"/>
          <p:cNvPicPr>
            <a:picLocks noChangeAspect="1"/>
          </p:cNvPicPr>
          <p:nvPr/>
        </p:nvPicPr>
        <p:blipFill>
          <a:blip r:embed="rId4">
            <a:extLst/>
          </a:blip>
          <a:stretch>
            <a:fillRect/>
          </a:stretch>
        </p:blipFill>
        <p:spPr>
          <a:xfrm>
            <a:off x="153989" y="12318101"/>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1" name="Day_1_Slide_6.png" descr="Day_1_Slide_6.png"/>
          <p:cNvPicPr>
            <a:picLocks noChangeAspect="0"/>
          </p:cNvPicPr>
          <p:nvPr>
            <p:ph type="pic" idx="21"/>
          </p:nvPr>
        </p:nvPicPr>
        <p:blipFill>
          <a:blip r:embed="rId3">
            <a:extLst/>
          </a:blip>
          <a:stretch>
            <a:fillRect/>
          </a:stretch>
        </p:blipFill>
        <p:spPr>
          <a:xfrm>
            <a:off x="13042900" y="3060700"/>
            <a:ext cx="9779000" cy="9626600"/>
          </a:xfrm>
          <a:prstGeom prst="rect">
            <a:avLst/>
          </a:prstGeom>
          <a:ln w="9525">
            <a:round/>
          </a:ln>
        </p:spPr>
      </p:pic>
      <p:sp>
        <p:nvSpPr>
          <p:cNvPr id="202" name="Key Study Resources"/>
          <p:cNvSpPr txBox="1"/>
          <p:nvPr>
            <p:ph type="title"/>
          </p:nvPr>
        </p:nvSpPr>
        <p:spPr>
          <a:prstGeom prst="rect">
            <a:avLst/>
          </a:prstGeom>
        </p:spPr>
        <p:txBody>
          <a:bodyPr/>
          <a:lstStyle>
            <a:lvl1pPr algn="l">
              <a:defRPr>
                <a:solidFill>
                  <a:srgbClr val="531B93"/>
                </a:solidFill>
                <a:latin typeface="Poppins Black"/>
                <a:ea typeface="Poppins Black"/>
                <a:cs typeface="Poppins Black"/>
                <a:sym typeface="Poppins Black"/>
              </a:defRPr>
            </a:lvl1pPr>
          </a:lstStyle>
          <a:p>
            <a:pPr/>
            <a:r>
              <a:t>Key Study Resources</a:t>
            </a:r>
          </a:p>
        </p:txBody>
      </p:sp>
      <p:sp>
        <p:nvSpPr>
          <p:cNvPr id="203" name="Your Essential Study Resources…"/>
          <p:cNvSpPr txBox="1"/>
          <p:nvPr>
            <p:ph type="body" sz="half" idx="1"/>
          </p:nvPr>
        </p:nvSpPr>
        <p:spPr>
          <a:prstGeom prst="rect">
            <a:avLst/>
          </a:prstGeom>
        </p:spPr>
        <p:txBody>
          <a:bodyPr numCol="2" spcCol="511175"/>
          <a:lstStyle/>
          <a:p>
            <a:pPr marL="0" indent="0" defTabSz="371475">
              <a:spcBef>
                <a:spcPts val="2600"/>
              </a:spcBef>
              <a:buSzTx/>
              <a:buNone/>
              <a:defRPr cap="all" sz="2880">
                <a:latin typeface="Poppins Black"/>
                <a:ea typeface="Poppins Black"/>
                <a:cs typeface="Poppins Black"/>
                <a:sym typeface="Poppins Black"/>
              </a:defRPr>
            </a:pPr>
            <a:r>
              <a:t>Your Essential Study Resources</a:t>
            </a:r>
          </a:p>
          <a:p>
            <a:pPr marL="0" indent="0" defTabSz="371475">
              <a:spcBef>
                <a:spcPts val="2600"/>
              </a:spcBef>
              <a:buSzTx/>
              <a:buNone/>
              <a:defRPr sz="2159">
                <a:latin typeface="Poppins Black"/>
                <a:ea typeface="Poppins Black"/>
                <a:cs typeface="Poppins Black"/>
                <a:sym typeface="Poppins Black"/>
              </a:defRPr>
            </a:pPr>
            <a:r>
              <a:t>📋 ECO (Exam Content Outline)</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rPr>
                <a:solidFill>
                  <a:srgbClr val="531B93"/>
                </a:solidFill>
                <a:latin typeface="Poppins Black"/>
                <a:ea typeface="Poppins Black"/>
                <a:cs typeface="Poppins Black"/>
                <a:sym typeface="Poppins Black"/>
              </a:rPr>
              <a:t>What:</a:t>
            </a:r>
            <a:r>
              <a:rPr>
                <a:solidFill>
                  <a:srgbClr val="531B93"/>
                </a:solidFill>
              </a:rPr>
              <a:t> </a:t>
            </a:r>
            <a:r>
              <a:t>Official exam blueprint from PMI</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rPr>
                <a:solidFill>
                  <a:srgbClr val="531B93"/>
                </a:solidFill>
                <a:latin typeface="Poppins Black"/>
                <a:ea typeface="Poppins Black"/>
                <a:cs typeface="Poppins Black"/>
                <a:sym typeface="Poppins Black"/>
              </a:rPr>
              <a:t>Why:</a:t>
            </a:r>
            <a:r>
              <a:t> Defines exactly what's tested</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rPr>
                <a:solidFill>
                  <a:srgbClr val="531B93"/>
                </a:solidFill>
                <a:latin typeface="Poppins Black"/>
                <a:ea typeface="Poppins Black"/>
                <a:cs typeface="Poppins Black"/>
                <a:sym typeface="Poppins Black"/>
              </a:rPr>
              <a:t>How:</a:t>
            </a:r>
            <a:r>
              <a:rPr>
                <a:solidFill>
                  <a:srgbClr val="531B93"/>
                </a:solidFill>
              </a:rPr>
              <a:t> </a:t>
            </a:r>
            <a:r>
              <a:t>Structure your entire study plan around it</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rPr>
                <a:solidFill>
                  <a:srgbClr val="531B93"/>
                </a:solidFill>
                <a:latin typeface="Poppins Black"/>
                <a:ea typeface="Poppins Black"/>
                <a:cs typeface="Poppins Black"/>
                <a:sym typeface="Poppins Black"/>
              </a:rPr>
              <a:t>Download: </a:t>
            </a:r>
            <a:r>
              <a:t>Free from </a:t>
            </a:r>
            <a:r>
              <a:rPr u="sng">
                <a:hlinkClick r:id="rId4" invalidUrl="" action="" tgtFrame="" tooltip="" history="1" highlightClick="0" endSnd="0"/>
              </a:rPr>
              <a:t>PMI.org</a:t>
            </a:r>
          </a:p>
          <a:p>
            <a:pPr marL="0" indent="0" defTabSz="371475">
              <a:spcBef>
                <a:spcPts val="2600"/>
              </a:spcBef>
              <a:buSzTx/>
              <a:buNone/>
              <a:defRPr sz="2159">
                <a:latin typeface="Poppins Black"/>
                <a:ea typeface="Poppins Black"/>
                <a:cs typeface="Poppins Black"/>
                <a:sym typeface="Poppins Black"/>
              </a:defRPr>
            </a:pPr>
            <a:r>
              <a:t>📚 PMBOK® Guide (7th Edition)</a:t>
            </a: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What:</a:t>
            </a:r>
            <a:r>
              <a:rPr>
                <a:solidFill>
                  <a:srgbClr val="531B93"/>
                </a:solidFill>
                <a:latin typeface="Poppins Black"/>
                <a:ea typeface="Poppins Black"/>
                <a:cs typeface="Poppins Black"/>
                <a:sym typeface="Poppins Black"/>
              </a:rPr>
              <a:t> </a:t>
            </a:r>
            <a:r>
              <a:rPr>
                <a:solidFill>
                  <a:srgbClr val="5E5E5E"/>
                </a:solidFill>
              </a:rPr>
              <a:t>Project Management Body of Knowledge</a:t>
            </a:r>
            <a:endParaRPr>
              <a:solidFill>
                <a:srgbClr val="5E5E5E"/>
              </a:solidFill>
            </a:endParaRP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Why:</a:t>
            </a:r>
            <a:r>
              <a:rPr>
                <a:latin typeface="Poppins Bold"/>
                <a:ea typeface="Poppins Bold"/>
                <a:cs typeface="Poppins Bold"/>
                <a:sym typeface="Poppins Bold"/>
              </a:rPr>
              <a:t> </a:t>
            </a:r>
            <a:r>
              <a:rPr>
                <a:solidFill>
                  <a:srgbClr val="5E5E5E"/>
                </a:solidFill>
              </a:rPr>
              <a:t>Detailed methodology and principles</a:t>
            </a:r>
            <a:endParaRPr>
              <a:solidFill>
                <a:srgbClr val="5E5E5E"/>
              </a:solidFill>
            </a:endParaRP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How:</a:t>
            </a:r>
            <a:r>
              <a:rPr>
                <a:latin typeface="Poppins Bold"/>
                <a:ea typeface="Poppins Bold"/>
                <a:cs typeface="Poppins Bold"/>
                <a:sym typeface="Poppins Bold"/>
              </a:rPr>
              <a:t> </a:t>
            </a:r>
            <a:r>
              <a:rPr>
                <a:solidFill>
                  <a:srgbClr val="5E5E5E"/>
                </a:solidFill>
              </a:rPr>
              <a:t>Reference for understanding concepts</a:t>
            </a:r>
            <a:endParaRPr>
              <a:solidFill>
                <a:srgbClr val="5E5E5E"/>
              </a:solidFill>
            </a:endParaRP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Access: </a:t>
            </a:r>
            <a:r>
              <a:rPr>
                <a:solidFill>
                  <a:srgbClr val="5E5E5E"/>
                </a:solidFill>
              </a:rPr>
              <a:t>Purchase or PMI member access</a:t>
            </a:r>
            <a:endParaRPr>
              <a:solidFill>
                <a:srgbClr val="5E5E5E"/>
              </a:solidFill>
            </a:endParaRPr>
          </a:p>
          <a:p>
            <a:pPr marL="261937" indent="-261937" defTabSz="371475">
              <a:lnSpc>
                <a:spcPct val="80000"/>
              </a:lnSpc>
              <a:spcBef>
                <a:spcPts val="1400"/>
              </a:spcBef>
              <a:defRPr sz="1979">
                <a:latin typeface="Poppins Light"/>
                <a:ea typeface="Poppins Light"/>
                <a:cs typeface="Poppins Light"/>
                <a:sym typeface="Poppins Light"/>
              </a:defRPr>
            </a:pPr>
          </a:p>
          <a:p>
            <a:pPr marL="0" indent="0" defTabSz="371475">
              <a:spcBef>
                <a:spcPts val="2600"/>
              </a:spcBef>
              <a:buSzTx/>
              <a:buNone/>
              <a:defRPr sz="2159">
                <a:latin typeface="Poppins Black"/>
                <a:ea typeface="Poppins Black"/>
                <a:cs typeface="Poppins Black"/>
                <a:sym typeface="Poppins Black"/>
              </a:defRPr>
            </a:pPr>
          </a:p>
          <a:p>
            <a:pPr marL="0" indent="0" defTabSz="371475">
              <a:spcBef>
                <a:spcPts val="2600"/>
              </a:spcBef>
              <a:buSzTx/>
              <a:buNone/>
              <a:defRPr sz="2159">
                <a:latin typeface="Poppins Black"/>
                <a:ea typeface="Poppins Black"/>
                <a:cs typeface="Poppins Black"/>
                <a:sym typeface="Poppins Black"/>
              </a:defRPr>
            </a:pPr>
          </a:p>
          <a:p>
            <a:pPr marL="0" indent="0" defTabSz="371475">
              <a:spcBef>
                <a:spcPts val="2600"/>
              </a:spcBef>
              <a:buSzTx/>
              <a:buNone/>
              <a:defRPr sz="2159">
                <a:latin typeface="Poppins Black"/>
                <a:ea typeface="Poppins Black"/>
                <a:cs typeface="Poppins Black"/>
                <a:sym typeface="Poppins Black"/>
              </a:defRPr>
            </a:pPr>
            <a:r>
              <a:t>⚡ Agile Practice Guide</a:t>
            </a: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What:</a:t>
            </a:r>
            <a:r>
              <a:t> Agile and hybrid approaches</a:t>
            </a: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Why:</a:t>
            </a:r>
            <a:r>
              <a:t> Modern PM is agile-inclusive</a:t>
            </a: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How:</a:t>
            </a:r>
            <a:r>
              <a:t> Understand iterative and adaptive methods</a:t>
            </a:r>
          </a:p>
          <a:p>
            <a:pPr marL="261937" indent="-261937" defTabSz="371475">
              <a:lnSpc>
                <a:spcPct val="80000"/>
              </a:lnSpc>
              <a:spcBef>
                <a:spcPts val="1400"/>
              </a:spcBef>
              <a:defRPr sz="1979">
                <a:latin typeface="Poppins Light"/>
                <a:ea typeface="Poppins Light"/>
                <a:cs typeface="Poppins Light"/>
                <a:sym typeface="Poppins Light"/>
              </a:defRPr>
            </a:pPr>
            <a:r>
              <a:rPr>
                <a:solidFill>
                  <a:srgbClr val="531B93"/>
                </a:solidFill>
                <a:latin typeface="Poppins Bold"/>
                <a:ea typeface="Poppins Bold"/>
                <a:cs typeface="Poppins Bold"/>
                <a:sym typeface="Poppins Bold"/>
              </a:rPr>
              <a:t>Access: </a:t>
            </a:r>
            <a:r>
              <a:t>Often bundled with PMBOK</a:t>
            </a:r>
          </a:p>
          <a:p>
            <a:pPr marL="0" indent="0" defTabSz="371475">
              <a:spcBef>
                <a:spcPts val="2600"/>
              </a:spcBef>
              <a:buSzTx/>
              <a:buNone/>
              <a:defRPr sz="2159">
                <a:latin typeface="Poppins Black"/>
                <a:ea typeface="Poppins Black"/>
                <a:cs typeface="Poppins Black"/>
                <a:sym typeface="Poppins Black"/>
              </a:defRPr>
            </a:pPr>
            <a:r>
              <a:t> 📦 Additional Resources (Provided)</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t>1000+ practice questions</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t>3 full-length simulated exams</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t>Downloadable templates and checklists</a:t>
            </a:r>
          </a:p>
          <a:p>
            <a:pPr marL="261937" indent="-261937" defTabSz="371475">
              <a:lnSpc>
                <a:spcPct val="80000"/>
              </a:lnSpc>
              <a:spcBef>
                <a:spcPts val="1400"/>
              </a:spcBef>
              <a:defRPr sz="1979">
                <a:solidFill>
                  <a:srgbClr val="5E5E5E"/>
                </a:solidFill>
                <a:latin typeface="Poppins Light"/>
                <a:ea typeface="Poppins Light"/>
                <a:cs typeface="Poppins Light"/>
                <a:sym typeface="Poppins Light"/>
              </a:defRPr>
            </a:pPr>
            <a:r>
              <a:t>Private online forum for support</a:t>
            </a:r>
          </a:p>
          <a:p>
            <a:pPr marL="0" indent="0" defTabSz="371475">
              <a:lnSpc>
                <a:spcPct val="80000"/>
              </a:lnSpc>
              <a:spcBef>
                <a:spcPts val="1400"/>
              </a:spcBef>
              <a:buSzTx/>
              <a:buNone/>
              <a:defRPr sz="1979">
                <a:solidFill>
                  <a:srgbClr val="5E5E5E"/>
                </a:solidFill>
                <a:latin typeface="Poppins Light"/>
                <a:ea typeface="Poppins Light"/>
                <a:cs typeface="Poppins Light"/>
                <a:sym typeface="Poppins Light"/>
              </a:defRPr>
            </a:pPr>
          </a:p>
          <a:p>
            <a:pPr marL="0" indent="0" defTabSz="371475">
              <a:lnSpc>
                <a:spcPct val="80000"/>
              </a:lnSpc>
              <a:spcBef>
                <a:spcPts val="1400"/>
              </a:spcBef>
              <a:buSzTx/>
              <a:buNone/>
              <a:defRPr sz="1979">
                <a:solidFill>
                  <a:srgbClr val="5E5E5E"/>
                </a:solidFill>
                <a:latin typeface="Poppins Light"/>
                <a:ea typeface="Poppins Light"/>
                <a:cs typeface="Poppins Light"/>
                <a:sym typeface="Poppins Light"/>
              </a:defRPr>
            </a:pPr>
          </a:p>
        </p:txBody>
      </p:sp>
      <p:sp>
        <p:nvSpPr>
          <p:cNvPr id="204" name="Slide Number"/>
          <p:cNvSpPr txBox="1"/>
          <p:nvPr>
            <p:ph type="sldNum" sz="quarter" idx="4294967295"/>
          </p:nvPr>
        </p:nvSpPr>
        <p:spPr>
          <a:xfrm>
            <a:off x="12068492" y="13081000"/>
            <a:ext cx="234316" cy="374649"/>
          </a:xfrm>
          <a:prstGeom prst="rect">
            <a:avLst/>
          </a:prstGeom>
          <a:extLst>
            <a:ext uri="{C572A759-6A51-4108-AA02-DFA0A04FC94B}">
              <ma14:wrappingTextBoxFlag xmlns:ma14="http://schemas.microsoft.com/office/mac/drawingml/2011/main" val="1"/>
            </a:ext>
          </a:extLst>
        </p:spPr>
        <p:txBody>
          <a:bodyPr/>
          <a:lstStyle>
            <a:lvl1pPr>
              <a:defRPr sz="1500">
                <a:solidFill>
                  <a:srgbClr val="5E5E5E"/>
                </a:solidFill>
                <a:latin typeface="Poppins Regular"/>
                <a:ea typeface="Poppins Regular"/>
                <a:cs typeface="Poppins Regular"/>
                <a:sym typeface="Poppins Regular"/>
              </a:defRPr>
            </a:lvl1pPr>
          </a:lstStyle>
          <a:p>
            <a:pPr/>
            <a:fld id="{86CB4B4D-7CA3-9044-876B-883B54F8677D}" type="slidenum"/>
          </a:p>
        </p:txBody>
      </p:sp>
      <p:pic>
        <p:nvPicPr>
          <p:cNvPr id="205" name="pmp-mastery-framework-mono.png" descr="pmp-mastery-framework-mono.png"/>
          <p:cNvPicPr>
            <a:picLocks noChangeAspect="1"/>
          </p:cNvPicPr>
          <p:nvPr/>
        </p:nvPicPr>
        <p:blipFill>
          <a:blip r:embed="rId5">
            <a:extLst/>
          </a:blip>
          <a:stretch>
            <a:fillRect/>
          </a:stretch>
        </p:blipFill>
        <p:spPr>
          <a:xfrm>
            <a:off x="153989" y="12318101"/>
            <a:ext cx="2946026" cy="84172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9" name="Sandy path between two hills leading to the ocean" descr="Sandy path between two hills leading to the ocean"/>
          <p:cNvPicPr>
            <a:picLocks noChangeAspect="1"/>
          </p:cNvPicPr>
          <p:nvPr>
            <p:ph type="pic" idx="21"/>
          </p:nvPr>
        </p:nvPicPr>
        <p:blipFill>
          <a:blip r:embed="rId2">
            <a:extLst/>
          </a:blip>
          <a:srcRect l="23220" t="0" r="23220" b="0"/>
          <a:stretch>
            <a:fillRect/>
          </a:stretch>
        </p:blipFill>
        <p:spPr>
          <a:xfrm>
            <a:off x="13169900" y="3149600"/>
            <a:ext cx="9525000" cy="9296400"/>
          </a:xfrm>
          <a:prstGeom prst="rect">
            <a:avLst/>
          </a:prstGeom>
        </p:spPr>
      </p:pic>
      <p:sp>
        <p:nvSpPr>
          <p:cNvPr id="210" name="Double-click to edit"/>
          <p:cNvSpPr txBox="1"/>
          <p:nvPr>
            <p:ph type="title"/>
          </p:nvPr>
        </p:nvSpPr>
        <p:spPr>
          <a:prstGeom prst="rect">
            <a:avLst/>
          </a:prstGeom>
        </p:spPr>
        <p:txBody>
          <a:bodyPr/>
          <a:lstStyle/>
          <a:p>
            <a:pPr/>
          </a:p>
        </p:txBody>
      </p:sp>
      <p:sp>
        <p:nvSpPr>
          <p:cNvPr id="211" name="Double-click to edit"/>
          <p:cNvSpPr txBox="1"/>
          <p:nvPr>
            <p:ph type="body" sz="half" idx="1"/>
          </p:nvPr>
        </p:nvSpPr>
        <p:spPr>
          <a:prstGeom prst="rect">
            <a:avLst/>
          </a:prstGeom>
        </p:spPr>
        <p:txBody>
          <a:bodyPr/>
          <a:lstStyle/>
          <a:p>
            <a:pPr/>
          </a:p>
        </p:txBody>
      </p:sp>
      <p:pic>
        <p:nvPicPr>
          <p:cNvPr id="212" name="pmp-mastery-framework-mono.png" descr="pmp-mastery-framework-mono.png"/>
          <p:cNvPicPr>
            <a:picLocks noChangeAspect="1"/>
          </p:cNvPicPr>
          <p:nvPr/>
        </p:nvPicPr>
        <p:blipFill>
          <a:blip r:embed="rId3">
            <a:extLst/>
          </a:blip>
          <a:stretch>
            <a:fillRect/>
          </a:stretch>
        </p:blipFill>
        <p:spPr>
          <a:xfrm>
            <a:off x="330501" y="12671127"/>
            <a:ext cx="2946027" cy="841722"/>
          </a:xfrm>
          <a:prstGeom prst="rect">
            <a:avLst/>
          </a:prstGeom>
          <a:ln w="12700">
            <a:miter lim="400000"/>
          </a:ln>
        </p:spPr>
      </p:pic>
      <p:sp>
        <p:nvSpPr>
          <p:cNvPr id="213"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5" name="Gemini_Generated_Image_40r1gh40r1gh40r1.png" descr="Gemini_Generated_Image_40r1gh40r1gh40r1.png"/>
          <p:cNvPicPr>
            <a:picLocks noChangeAspect="1"/>
          </p:cNvPicPr>
          <p:nvPr>
            <p:ph type="pic" idx="21"/>
          </p:nvPr>
        </p:nvPicPr>
        <p:blipFill>
          <a:blip r:embed="rId2">
            <a:extLst/>
          </a:blip>
          <a:srcRect l="23220" t="0" r="23220" b="0"/>
          <a:stretch>
            <a:fillRect/>
          </a:stretch>
        </p:blipFill>
        <p:spPr>
          <a:xfrm>
            <a:off x="9926780" y="21501"/>
            <a:ext cx="14302690" cy="13959425"/>
          </a:xfrm>
          <a:prstGeom prst="rect">
            <a:avLst/>
          </a:prstGeom>
        </p:spPr>
      </p:pic>
      <p:sp>
        <p:nvSpPr>
          <p:cNvPr id="216" name="Double-click to edit"/>
          <p:cNvSpPr txBox="1"/>
          <p:nvPr>
            <p:ph type="title"/>
          </p:nvPr>
        </p:nvSpPr>
        <p:spPr>
          <a:prstGeom prst="rect">
            <a:avLst/>
          </a:prstGeom>
        </p:spPr>
        <p:txBody>
          <a:bodyPr/>
          <a:lstStyle/>
          <a:p>
            <a:pPr/>
          </a:p>
        </p:txBody>
      </p:sp>
      <p:sp>
        <p:nvSpPr>
          <p:cNvPr id="217" name="Double-click to edit"/>
          <p:cNvSpPr txBox="1"/>
          <p:nvPr>
            <p:ph type="body" sz="half" idx="1"/>
          </p:nvPr>
        </p:nvSpPr>
        <p:spPr>
          <a:prstGeom prst="rect">
            <a:avLst/>
          </a:prstGeom>
        </p:spPr>
        <p:txBody>
          <a:bodyPr/>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825500" rtl="0" fontAlgn="auto" latinLnBrk="0" hangingPunct="0">
          <a:lnSpc>
            <a:spcPct val="100000"/>
          </a:lnSpc>
          <a:spcBef>
            <a:spcPts val="5900"/>
          </a:spcBef>
          <a:spcAft>
            <a:spcPts val="0"/>
          </a:spcAft>
          <a:buClrTx/>
          <a:buSzTx/>
          <a:buFontTx/>
          <a:buNone/>
          <a:tabLst/>
          <a:defRPr b="0" baseline="0" cap="none" i="0" spc="0" strike="noStrike" sz="4800" u="none" kumimoji="0" normalizeH="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