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_class: cover</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1024086991"/>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_class: agenda</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1024086991"/>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Project Management Body of Knowledge, or PMBOK® Guide, is a foundational document in the field of project management and a key reference for the PMP® exam.</a:t>
            </a:r>
            <a:endParaRPr lang="en-US"/>
          </a:p>
          <a:p>
            <a:r>
              <a:rPr lang="en-US"/>
              <a:t>It encompasses a vast array of knowledge areas and provides a structured approach to managing projects.</a:t>
            </a:r>
            <a:endParaRPr lang="en-US"/>
          </a:p>
          <a:p>
            <a:r>
              <a:rPr lang="en-US"/>
              <a:t>While our course prioritises the ECO, the PMBOK® Guide offers crucial context and detailed explanations of many of the concepts you'll encounter. </a:t>
            </a:r>
            <a:endParaRPr lang="en-US"/>
          </a:p>
          <a:p>
            <a:r>
              <a:rPr lang="en-US"/>
              <a:t>Your task is to start becoming comfortable navigating the PMBOK® Guide, understanding its structure, and identifying the broad range of topics it addresses. Don't feel you need to master it all immediately; we will guide you through the relevant sections as we progress.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1024086991"/>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 have the Agile Practice Guide.</a:t>
            </a:r>
            <a:endParaRPr lang="en-US"/>
          </a:p>
          <a:p>
            <a:r>
              <a:rPr lang="en-US"/>
              <a:t>The PMP® exam today significantly tests your knowledge of agile and hybrid approaches, and this guide is an essential resource for mastering those concepts.</a:t>
            </a:r>
            <a:endParaRPr lang="en-US"/>
          </a:p>
          <a:p>
            <a:r>
              <a:rPr lang="en-US"/>
              <a:t>Co-created by PMI and the Agile Alliance, the Agile Practice Guide provides the principles and practices needed to manage projects in environments that are not purely predictive.</a:t>
            </a:r>
            <a:endParaRPr lang="en-US"/>
          </a:p>
          <a:p>
            <a:r>
              <a:rPr lang="en-US"/>
              <a:t>Becoming familiar with its contents is crucial for exam success.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let's briefly review the Project Management Process Groups.</a:t>
            </a:r>
            <a:endParaRPr lang="en-US"/>
          </a:p>
          <a:p>
            <a:r>
              <a:rPr lang="en-US"/>
              <a:t>These five groups – Initiating, Planning, Executing, Monitoring and Controlling, and Closing – represent the high-level phases of a project lifecycle.</a:t>
            </a:r>
            <a:endParaRPr lang="en-US"/>
          </a:p>
          <a:p>
            <a:r>
              <a:rPr lang="en-US"/>
              <a:t>Think of them as a framework that helps categorise when different project management processes typically occur, regardless of the specific methodology being used.</a:t>
            </a:r>
            <a:endParaRPr lang="en-US"/>
          </a:p>
          <a:p>
            <a:r>
              <a:rPr lang="en-US"/>
              <a:t>While the ECO is the blueprint for what to study, the Process Groups provide context for when certain processes are performed.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Hopefully, you've already had a chance to look at any introductory materials we've provided about the PMP® Exam itself.</a:t>
            </a:r>
            <a:endParaRPr lang="en-US"/>
          </a:p>
          <a:p>
            <a:r>
              <a:rPr lang="en-US"/>
              <a:t>These sections usually cover important details about the exam format, the number of questions, the duration, and the types of questions you can expect.</a:t>
            </a:r>
            <a:endParaRPr lang="en-US"/>
          </a:p>
          <a:p>
            <a:r>
              <a:rPr lang="en-US"/>
              <a:t>Crucially, I want to reiterate the point made in our course description: our primary focus is on the PMP® Exam Content Outline, or ECO.</a:t>
            </a:r>
            <a:endParaRPr lang="en-US"/>
          </a:p>
          <a:p>
            <a:r>
              <a:rPr lang="en-US"/>
              <a:t>While the PMBOK® Guide is a valuable resource, the ECO is the document that directly outlines what you will be tested on. Our course is structured to ensure we cover each domain, task, and enabler within the ECO in detail.</a:t>
            </a:r>
            <a:endParaRPr lang="en-US"/>
          </a:p>
          <a:p>
            <a:r>
              <a:rPr lang="en-US"/>
              <a:t>Crucially, I want to reiterate the point made in our course description: our primary focus is on the PMP® Exam Content Outline, or ECO</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haven't already, your absolute priority today is to download the official PMP® Exam Content Outline from the PMI website (www.pmi.org). Consider this document your most important guide throughout your preparation.</a:t>
            </a:r>
            <a:endParaRPr lang="en-US"/>
          </a:p>
          <a:p>
            <a:r>
              <a:rPr lang="en-US"/>
              <a:t>The ECO is structured into three key Domains: People, Process, and Business Environment.</a:t>
            </a:r>
            <a:endParaRPr lang="en-US"/>
          </a:p>
          <a:p>
            <a:r>
              <a:rPr lang="en-US"/>
              <a:t>Within each Domain, the ECO lists specific Tasks that a competent project manager should be able to perform.</a:t>
            </a:r>
            <a:endParaRPr lang="en-US"/>
          </a:p>
          <a:p>
            <a:r>
              <a:rPr lang="en-US"/>
              <a:t>For each Task, it then provides Enablers, which are examples of the types of activities or work that help you accomplish that task.</a:t>
            </a:r>
            <a:endParaRPr lang="en-US"/>
          </a:p>
          <a:p>
            <a:r>
              <a:rPr lang="en-US"/>
              <a:t>Understanding this hierarchical structure is key to navigating the exam content effectively.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102408699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take a closer look at the three domains.</a:t>
            </a:r>
            <a:endParaRPr lang="en-US"/>
          </a:p>
          <a:p>
            <a:r>
              <a:rPr lang="en-US"/>
              <a:t>The 'People' domain, carrying 42% of the exam weight, emphasises the crucial skills needed to lead and manage project teams and engage effectively with all stakeholders.</a:t>
            </a:r>
            <a:endParaRPr lang="en-US"/>
          </a:p>
          <a:p>
            <a:r>
              <a:rPr lang="en-US"/>
              <a:t>The 'Process' domain, which constitutes the largest portion at 50%, focuses on the technical project management skills and knowledge required to plan, execute, monitor, and control the project.</a:t>
            </a:r>
            <a:endParaRPr lang="en-US"/>
          </a:p>
          <a:p>
            <a:r>
              <a:rPr lang="en-US"/>
              <a:t>Finally, the 'Business Environment' domain, at 8%, examines your understanding of how projects align with the overall business strategy, how to deliver value, and how to manage compliance and organisational change.</a:t>
            </a:r>
            <a:endParaRPr lang="en-US"/>
          </a:p>
          <a:p>
            <a:r>
              <a:rPr lang="en-US"/>
              <a:t>Keep these weightings in mind as you plan your study, as they indicate the relative emphasis on each area in the exam.</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1024086991"/>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_class: tips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marL="0" marR="0" indent="0" algn="l" defTabSz="825500" rtl="0" latinLnBrk="0">
        <a:lnSpc>
          <a:spcPct val="100000"/>
        </a:lnSpc>
        <a:spcBef>
          <a:spcPts val="0"/>
        </a:spcBef>
        <a:spcAft>
          <a:spcPts val="0"/>
        </a:spcAft>
        <a:buClrTx/>
        <a:buSzTx/>
        <a:buFontTx/>
        <a:buNone/>
        <a:tabLst/>
        <a:defRPr b="0" baseline="0" cap="none" i="0" spc="0" strike="noStrike" sz="4400" u="none">
          <a:solidFill>
            <a:schemeClr val="accent1"/>
          </a:solidFill>
          <a:uFillTx/>
          <a:latin typeface="Poppins Black"/>
          <a:ea typeface="Poppins Black"/>
          <a:cs typeface="Poppins Black"/>
          <a:sym typeface="Poppins Black"/>
        </a:defRPr>
      </a:lvl1pPr>
    </p:titleStyle>
    <p:bodyStyle>
      <a:lvl1pPr marL="342900" marR="0" indent="-342900" algn="l" defTabSz="825500" latinLnBrk="0">
        <a:lnSpc>
          <a:spcPct val="100000"/>
        </a:lnSpc>
        <a:spcBef>
          <a:spcPts val="0"/>
        </a:spcBef>
        <a:spcAft>
          <a:spcPts val="0"/>
        </a:spcAft>
        <a:buClrTx/>
        <a:buSzPct val="100000"/>
        <a:buFontTx/>
        <a:buChar char="•"/>
        <a:tabLst/>
        <a:defRPr b="0" baseline="0" cap="none" i="0" spc="0" strike="noStrike" sz="2400" u="none">
          <a:solidFill>
            <a:schemeClr val="dk1"/>
          </a:solidFill>
          <a:uFillTx/>
          <a:latin typeface="Poppins Regular"/>
          <a:ea typeface="Poppins Regular"/>
          <a:cs typeface="Poppins Regular"/>
          <a:sym typeface="Poppins Regular"/>
        </a:defRPr>
      </a:lvl1pPr>
      <a:lvl2pPr marL="742950" indent="-285750" algn="l" defTabSz="914400" rtl="0" eaLnBrk="1" latinLnBrk="0" hangingPunct="1">
        <a:spcBef>
          <a:spcPct val="20000"/>
        </a:spcBef>
        <a:buFont typeface="Poppins Regular" pitchFamily="34" charset="0"/>
        <a:buChar char="–"/>
        <a:defRPr sz="2800" kern="1200">
          <a:solidFill>
            <a:schemeClr val="dk1"/>
          </a:solidFill>
          <a:latin typeface="Poppins Regular"/>
          <a:ea typeface="Poppins Regular"/>
          <a:cs typeface="Poppins Regular"/>
        </a:defRPr>
      </a:lvl2pPr>
      <a:lvl3pPr marL="1143000" indent="-228600" algn="l" defTabSz="914400" rtl="0" eaLnBrk="1" latinLnBrk="0" hangingPunct="1">
        <a:spcBef>
          <a:spcPct val="20000"/>
        </a:spcBef>
        <a:buFont typeface="Poppins Light" pitchFamily="34" charset="0"/>
        <a:buChar char="•"/>
        <a:defRPr sz="2400" kern="1200">
          <a:solidFill>
            <a:schemeClr val="dk1"/>
          </a:solidFill>
          <a:latin typeface="Poppins Light"/>
          <a:ea typeface="Poppins Light"/>
          <a:cs typeface="Poppins Light"/>
        </a:defRPr>
      </a:lvl3pPr>
    </p:bodyStyle>
    <p:otherStyle>
      <a:defPPr>
        <a:defRPr lang="en-US"/>
      </a:defPPr>
      <a:lvl1pPr marL="0" algn="l" defTabSz="914400" rtl="0" eaLnBrk="1" latinLnBrk="0" hangingPunct="1">
        <a:defRPr sz="1800" kern="1200">
          <a:solidFill>
            <a:schemeClr val="dk1"/>
          </a:solidFill>
          <a:latin typeface="Poppins Regular"/>
          <a:ea typeface="Poppins Regular"/>
          <a:cs typeface="Poppins Regular"/>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MP Mastery Framework">
  <a:themeElements>
    <a:clrScheme name="PMP Mastery">
      <a:dk1>
        <a:sysClr val="windowText" lastClr="000000"/>
      </a:dk1>
      <a:lt1>
        <a:sysClr val="window" lastClr="FFFFFF"/>
      </a:lt1>
      <a:dk2>
        <a:srgbClr val="5E5E5E"/>
      </a:dk2>
      <a:lt2>
        <a:srgbClr val="D5D5D5"/>
      </a:lt2>
      <a:accent1>
        <a:srgbClr val="531B93"/>
      </a:accent1>
      <a:accent2>
        <a:srgbClr val="381C75"/>
      </a:accent2>
      <a:accent3>
        <a:srgbClr val="E67E22"/>
      </a:accent3>
      <a:accent4>
        <a:srgbClr val="2ECC71"/>
      </a:accent4>
      <a:accent5>
        <a:srgbClr val="3498DB"/>
      </a:accent5>
      <a:accent6>
        <a:srgbClr val="F1C40F"/>
      </a:accent6>
      <a:hlink>
        <a:srgbClr val="3498DB"/>
      </a:hlink>
      <a:folHlink>
        <a:srgbClr val="9B59B6"/>
      </a:folHlink>
    </a:clrScheme>
    <a:fontScheme name="Poppins">
      <a:majorFont>
        <a:latin typeface="Poppins Black"/>
        <a:ea typeface=""/>
        <a:cs typeface=""/>
        <a:font script="Jpan" typeface="Poppins Black"/>
        <a:font script="Hang" typeface="Poppins Black"/>
        <a:font script="Hans" typeface="Poppins Black"/>
        <a:font script="Hant" typeface="Poppins Black"/>
      </a:majorFont>
      <a:minorFont>
        <a:latin typeface="Poppins Regular"/>
        <a:ea typeface=""/>
        <a:cs typeface=""/>
        <a:font script="Jpan" typeface="Poppins Regular"/>
        <a:font script="Hang" typeface="Poppins Regular"/>
        <a:font script="Hans" typeface="Poppins Regular"/>
        <a:font script="Hant" typeface="Poppins Regula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We Cover Today</dc:title>
  <dc:subject>PptxGenJS Presentation</dc:subject>
  <dc:creator>Created by Marp</dc:creator>
  <cp:lastModifiedBy>Created by Marp</cp:lastModifiedBy>
  <cp:revision>1</cp:revision>
  <dcterms:created xsi:type="dcterms:W3CDTF">2026-03-04T10:59:48Z</dcterms:created>
  <dcterms:modified xsi:type="dcterms:W3CDTF">2026-03-04T10:59:48Z</dcterms:modified>
</cp:coreProperties>
</file>